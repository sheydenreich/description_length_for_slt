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alk" id="{6385446e-8ecf-ec88-d89d-6e5df65a44f5}">
          <p14:sldIdLst>
            <p14:sldId id="256"/>
            <p14:sldId id="257"/>
            <p14:sldId id="258"/>
            <p14:sldId id="259"/>
            <p14:sldId id="260"/>
            <p14:sldId id="261"/>
            <p14:sldId id="262"/>
            <p14:sldId id="263"/>
            <p14:sldId id="264"/>
          </p14:sldIdLst>
        </p14:section>
        <p14:section name="Backup" id="{4099838e-bd48-d6af-5376-f167536e76ad}">
          <p14:sldIdLst>
            <p14:sldId id="265"/>
            <p14:sldId id="266"/>
            <p14:sldId id="267"/>
            <p14:sldId id="268"/>
            <p14:sldId id="269"/>
            <p14:sldId id="270"/>
            <p14:sldId id="271"/>
            <p14:sldId id="272"/>
            <p14:sldId id="273"/>
            <p14:sldId id="274"/>
            <p14:sldId id="275"/>
            <p14:sldId id="276"/>
            <p14:sldId id="277"/>
            <p14:sldId id="278"/>
            <p14:sldId id="279"/>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question. Interpretability methods look inside a network for the variables of an algorithm, and they report a hit with an accuracy. When they find it: does the network compute that variable, or did the probe, which we trained, put it there? This talk: description length can tell the two apart, and the term that decides it is a learning coefficient, though not the Bayes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Sven Heydenreich, a postdoc at the Laboratory of Data Engineering at AREA Science Park. The talk scores interpretability explanations by description length and asks what singular learning theory says about the complexity term of that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Causal abstraction on the indirect-object task in GPT-2. Two prompts: the base has the pattern ABAB, so the answer is the second name, John; the source has ABBA, so the answer is the first name, Anna. Run both through GPT-2 up to a layer and take the hidden states. An alignment map phi rotates each hidden state so that its first coordinates carry the variable, here the indirect-object name. Swap those coordinates from the source into the base, map back with phi inverse and run the rest of the network. If the network computes the variable there, the output is the counterfactual, Anna: the base said John, and Anna sits at a different position than John did, so this is not about positions. Interchange-intervention accuracy, IIA, is the fraction of swaps whose output is the algorithm's counterfactual. The catch is that phi is learned. An expressive phi, such as a coupling flow, can memorise features and reach high IIA even on an untrained GPT-2 (Sutter et al.). Accuracy alone cannot tell a found variable from a manufactured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counting agreements, count bits. Draw base and source pairs, compute the algorithm's counterfactual label, pass it through a 5 percent randomized-response channel, and code the labels one by one with the intervened network as the predictor; the map is fitted only on the labels seen so far. That is a prequential code, and for a Bayes predictive it is exactly the Bayes free energy, so Watanabe's expansion applies: F_n = n L_n(w0) + lambda ln n - (m-1) ln ln n + O_p(1). The gain of a hypothesis over a control on the same labels is then a difference of free energies with two terms. The linear term, n times the loss gap of the best fits, is nonzero only when one family cannot reproduce the counterfactual law at all: a realizability question, and it rejects outright. The logarithmic term is a difference of learning coefficients: the complexity of learning the alignment, Occam's razor in bits. The codes we actually use are plug-in codes, a map refitted by gradient descent, so lambda is replaced by a learner coefficient kappa; that is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point is one alignment on the indirect-object task in four language models: horizontally its interchange accuracy, vertically its gain over a code that ignores the network (label-only), at 1024 targets. The red points are manufactured alignments, an expressive coupling map on an untrained twin: IIA up to 0.83, so an accuracy threshold of 0.8 accepts them, yet they code longer than knowing nothing. The faithful subspaces gain around 3000 bits. And the more expressive family, the coupling map on the trained network, pays more bits than the subspace for the same variable. Say aloud: 'longer than label-only' is a statement at 1024 targets under the single-map learner; with 32768 targets the forgery beats label-only too, and what survives at every n is the comparison with the valid alignment (slide 7,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explanations of the same variable, the indirect-object name in GPT-2: the Jacobian lens, which reads the subspace off the network's own averaged Jacobian and fits nothing; a learned 16-dimensional subspace; an expressive coupling map on the trained network; and the same map on the untrained twin, the manufactured alignment. Interchange accuracy accepts all four. The parameter count puts the two coupling maps at the same 1.9 million. The plug-in learning coefficient kappa, the regret per ln n, orders them 0, 49, 226, 988, and the code length follows: the explanation with kappa exactly zero codes the name shortest. (MAP code, kappa at n up to 1024, three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term of slide 4 carries the verdict? Each panel splits a gain into the fit term (pink: the difference of the best-in-family losses, linear in n) and the regret term (blue: the difference of the learning costs, delta kappa ln n); single-map MAP code, 32768 targets, three seeds. Left: the valid subspace against the manufactured alignment. The gain is carried by the regret term, and that term scales with the learning coefficient: this is where the investigation becomes a singular-learning-theory question. Middle: against the coupling map on the trained network. The gain is not monotonic in n: the fit term, linear in n, runs against the subspace at large n while the regret term grows only like ln n, so the gain peaks and turns over, and the coupling overtakes near 20k targets. With G(n) = n delta-l + delta-kappa ln n and a small negative delta-l the peak sits near n = delta-kappa / |delta-l| (back of the envelope for the left panel: delta-kappa about 750, |delta-l| about 0.04 nats per target, so about 2e4; the peak is at 16384). Right: the fair comparison, the same coupling map with the same parameter count on the trained and on the untrained network. Both fit equally well, the fit term is zero, and the whole 8k-bit gain is regret: kappa about 150 against about 830 per ln n. Parameter count, interchange accuracy and the best achievable loss cannot tell these two apart; the learning coefficient can. If asked why the flows fit better in the middle panel: calibration of the readout (backup 'Fit or Occam: calibrated'); beyond about 32768 targets the optimiser's noise matters as much as kappa (backup 'To 131072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kappa, and how does it relate to lambda? (a) On GPT-2 layer 11 the valid subspace's kappa stays at 50 to 80 as the subspace dimension goes from 4 to 64, while the nominal Bayes coefficient d_V(d - d_V)/2 grows from 1528 to 22528; the controls stay above at every width. (b) The classical plug-in prediction, half the trace of F H inverse, gets the order of kappa on the oracle and on GPT-2, but not its trend (measured over predicted 0.3 to 1.2); the nominal lambda is 20 to 400 times off. (c) The reason: at the MAP the empirical Fisher is about 2 percent of the Hessian; the targets are deterministic functions of the hidden state behind a noise channel, so moving the subspace changes every target's loss the same way. (d) A Laplace (Bayes) code pays one half per resolved direction, 6016; the plug-in pays one half F over h per direction, about 70; measured 49. Discussion: plug-in against Bayes codes (on reduced-rank regression the HMC Bayes code reads the Aoyagi-Watanabe lambda and least squares reads MN/2; on the oracle the Bayes code pays k/2 + (11 - k)/4, the plug-in k/2; backup), local kappa against lambda and the SGLD LLC (backup), and what a singular learning theory of plug-in learners would have to say (backup 'What this asks of SLT').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If you want to discuss this, have ideas, or found a mistake, please talk to me or write. The slides, with a backup section on the Bayes codes, the oracle and the larger models, are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slides, for questions and for reading after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Concretely: draw base and source inputs, compute the algorithm's counterfactual output, pass it through randomized response with a known 5 percent rate, and code the resulting label sequentially. The predictor is the network itself with the aligned part of its hidden state swapped; only the map is fitted, on the targets seen so far, and the readout stays frozen. The code length is the cumulative log loss, and differences to controls on identical targets are gains in bits, which read as running log Bayes factors. Randomized response matters: it makes deterministic targets realizable at finite logits, and every predictor must code the observed noisy law (backup). For a Bayes predictive this code length is exactly the free energy, which is where your theory comes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methods finding that preceded all results. The frozen readout is far sharper than a 5 percent randomized response, and an orthogonal map cannot temper it, so if the predictor codes the clean law it is punished exactly where it is right. After the fix every predictor codes the observed law, and every verdict flipped to the expected sign. The channel is also what makes the target law realizable, which is the condition for the free-energy expansion.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coefficients appear throughout and I will label every number with one of them. Lambda is the Bayes learning coefficient: it governs the regret of the posterior predictive. Kappa is the coefficient of whatever learner builds the code; for a plug-in estimator in a regular model it is the classical one half trace of F times H inverse, which equals d over two only when the information equality holds. Both are measured the same way, as the slope of the regret against log n, corrected for the block schedule (checked exactly in the long deck, slt_days_talk.pptx). The plan's open question was when kappa equals lambda; the answer turns out to be: almost never on trained networks.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network, the exact example. In reduced-rank regression the learning coefficient is known from Aoyagi and Watanabe, so we ran a genuine Bayes code by HMC and a least-squares plug-in code on the same data. The Bayes code's regret slope is lambda on all twelve shapes, within one or two standard errors; the plug-in's slope is the regular MN over 2 whatever the true rank, so whenever the rank is deficient the two differ by the predicted amount. Gains between a rank-restricted and a full family on the same data grow like delta lambda log n, which is the Occam-regime prediction of slide 4. The two multiplicity-2 shapes sit slightly below lambda, which we attribute to the log log n term at these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oracle is a network whose hidden state varies along the variable's direction and only k of the other eleven directions; nominal lambda for the one-dimensional subspace map is 5.5 regardless of k. The MAP code's slope follows one half trace F H-plus computed at the MAP, which is essentially k over 2: it pays only for directions the data read. The Bayes code by HMC pays for the other directions too, but not one half each: tilting the frame towards a coordinate the data do not span changes the readout only at second order in the angle, so the KL is quartic there, Fisher and Hessian both vanish, and each such direction contributes a quarter. The Bayes coefficient is k over 2 plus (11 minus k) over 4, which the 16384-target slopes match within about one standard error: 3.35 against 3.0 at k = 1, 5.43 against 5.5 at k = 11. The plug-in pays nothing for quartic directions. So my earlier slogan 'effective lambda equals readable directions over two' was a statement about the plug-in code, not about lambda.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oracle experiment: make the readout sharper. For a near-deterministic readout behind a noise channel the KL divergence grows linearly rather than quadratically in the decision-relevant directions over a range of parameters, so the finite-n coefficient is one per direction instead of one half. A one-dimensional quadrature predicts this and predicts a crossover sample size growing roughly like the sharpness to the power 1.3. The Bayes code follows that script: from k over 2 to k at small n, and back towards k over 2 at sixteen thousand targets. The MAP code overshoots both and does not come back: a point estimate at the wrong place in a sharp landscape pays boundary points at the channel floor, so here kappa exceeds lambda.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the Bayes code is and is not the right tool, as a ladder in lambda. On the small hierarchical-equality MLP, nominal lambda 56, a genuine HMC Bayes code beats the plug-in and also charges the expressive coupling family what the plug-in does not: exactly what the plan wanted from a Bayes code. On InterpBench, lambda 512, the Bayes code of the valid alignment is longer than knowing nothing at a thousand targets and only concentrates by eight thousand. On GPT-2 we did not run it; the Laplace count 6016 log n exceeds the hard ceiling of any code of the observed law, 6.46 nats per target or 2.2 times label-only, until about ten thousand targets, so the drawn point is that ceiling, an upper bound. The plug-in stays at a quarter to a half of the label-only code throughout. The Bayes coefficient of an alignment family is real but it charges valid explanations for prior mass on a huge Grassmannian.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split a gain into a falsification term, linear in n, and an Occam term, logarithmic. Here is that split measured, for the valid layer-11 subspace against the manufactured alignment on the left and against the coupling map on the trained network on the right. Black is the gain, pink dashed the fit term, the difference of the two best-in-family fits on the same targets, blue the regret term, the difference of the learning costs, which carries kappa log n. Single-map MAP code, 32768 targets, three seeds. Top row, the readout as it is: the flows fit the targets better than the faithful subspace, on held-out pairs as well. That is calibration: the targets are the algorithm's deterministic outputs behind a 5 percent channel, GPT-2 itself puts about 96 percent on the name, the subspace swap inherits that, the flows push the readout to saturation. So the fit term runs against the valid alignment, and the trained coupling overtakes it near twenty thousand targets. Bottom row: give every predictor, valid, controls and forgery alike, one learned inverse temperature on the readout. The calibration gap closes, the valid subspace's clean-target loss drops to the channel floor, and the fit term is zero against the manufactured alignment and within noise against the coupling. What separates them is only the cost of learning: 9300 bits against the forgery and still growing, 1100 against the coupling. Against label-only and the untrained twin the gain is all fit term in both rows. So with the calibration confound removed, the verdict between a valid and a manufactured explanation is a pure learning-coefficient statement. Caveat for large n, backup slide: at 131072 targets, three seeds, the tempered margin against the forgery stops growing and plateaus at nine to ten thousand bits, no crossover; without the temperature it shrinks to about six thousand, and the trained coupling wins. Beyond about thirty thousand targets the excess loss of this learner is set by the optimiser's noise, about a hundredth of a nat per target, not by its learning coefficient.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cleanest version of the previous slide needs no temperature. Compare two explanations from the same family: the expressive coupling flow on the trained GPT-2 at layer 11, and the same flow on the untrained twin at layer 10, which is the manufactured alignment. Same architecture of map, same parameter count, nearly perfect interchange accuracy for both once they have seen enough pairs. Both saturate the readout, so the fit term is zero within noise: 15 bits at 32768 targets, 95 with the temperature. The 8000-bit gain is entirely the regret term, the difference in learning cost: the flow on the trained network has a learner coefficient of about 150 per log n, the one on the untrained network about 830. Parameter count, accuracy and the best achievable loss cannot tell these two apart; the learning coefficient can. This is the Occam regime of slide 4 in its pure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happens far beyond the talk's headline sample sizes. Three seeds each at 131072 targets, with the learner's step budget raised to ten passes over the prefix; the fixed budget gives the same curves, so this is not an optimisation-budget artefact. With a temperature, the margin of the valid subspace over the forgery stops growing after about thirty thousand targets and stays at nine to ten thousand bits; against the coupling on the trained network it is a tie. Without the temperature, the calibration deficit of the subspace, about five hundredths of a nat per target, accumulates linearly and the margin over the forgery shrinks, while the trained coupling wins by seven thousand bits. The same-family pair, coupling on the trained versus the untrained network, keeps separating. Why the plateau: at this size the plug-in learner's excess loss per target is set by the noise of a constant-learning-rate optimiser, about a hundredth of a nat, which is as large as the kappa over n term. So the asymptotic regime of a plug-in code depends on the optimiser as much as on the model: one more reason a theory of plug-in learners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GPT-2 protocol carries to models twenty to sixty times larger without any change. At the loci where the name is intervenable the valid subspace gains three thousand bits or more on every model, and the controls are rejected within the first twenty targets by the anytime criterion. At a thousand targets the coupling family on the trained network codes about a thousand bits behind the subspace, which is the complexity charge that IIA does not see; on GPT-2 it overtakes the subspace near twenty thousand targets, by calibration (slide 7). At a thousand targets the manufactured alignment never beats the label-only code: 1700 to 2000 bits worse under the single-map learner, 150 bits worse on Qwen3 under the averaging learner, which rescues confident errors. Learners: GPT-2, Qwen2.5 and Llama use the single-map MAP code, Qwen3 the mixture of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Jacobian lens builds the alignment analytically from the network's averaged Jacobian, so its code has no learning cost at all, and on GPT-2 it is the shortest code of the name at the layers where the name is readable. The consistency statistic compares the actual output change of an intervention with what the averaged Jacobian predicts: the manufactured alignment moves the output through local sensitivity the average does not show, six to ten times more than the valid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result where the absolute verdict depends on the learner. Under the canonical mixture of four plug-in members the layer-10 manufactured alignment beats label-only by 704 bits; under one member, the MAP alone, or the MAP with a Langevin hedge it is a thousand to two thousand bits worse. The hedge itself moves the code by 40 bits, so this is not a Bayes complexity charge: it is the averaging. The valid alignment barely changes across learners because maps that have found the subspace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training trajectory: Pythia-1.4b at seven released checkpoints. The code of the valid alignment falls with the task accuracy, from worse than label-only at step 1000 to about 900 bits once the task is solved, and keeps falling between steps 4000 and 8000 when accuracy is already saturated: the representation keeps getting cleaner after competence. At step 1000 the trained network is worse than its own untrained twin, which still carries the raw name tokens; training first destroys the copy before computing the task. A question for this audience: do local learning coefficient estimates of the network itself show a transition between steps 1000 and 4000, and does it line up with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the Lau et al. estimator as an independent check. Where the answer is known it works with the usual step sensitivity, and on the oracle it agrees with the plug-in coefficient rather than with the Bayes one at small k, which I find interesting in itself. On the saturated InterpBench readout the loss is exactly flat around the MAP until a target crosses the decision boundary, so the chains either sit still or drift away; the estimator measures the extent of the flat region, not a power law at a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places where I think this audience can help. First, the operative complexity is the regret coefficient of a plug-in learner, and we have measured it on both sides of lambda; I do not know a singular-learning-theory account of MAP regret that covers all three regimes. Second, the alignment families are a curious case: regular in the Hessian sense, but almost every direction is Fisher-free because the targets are deterministic functions of the hidden state; what is the right effective coefficient there? Third, the SGLD local learning coefficient behaves as you would expect on the exact and oracle cases but its step must shrink with n, and on saturated readouts the chains drift along flat regions. Fourth, the shortest explanation in GPT-2 has learning coefficient zero; I would like to know what prior would make a Bayes code of explanations behave like the plug-in.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OOK_DARK">
    <p:bg>
      <p:bgPr>
        <a:solidFill>
          <a:srgbClr val="1B1F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280160"/>
            <a:ext cx="6766560" cy="4023360"/>
          </a:xfrm>
          <a:prstGeom prst="rect">
            <a:avLst/>
          </a:prstGeom>
          <a:noFill/>
          <a:ln/>
        </p:spPr>
        <p:txBody>
          <a:bodyPr wrap="square" rtlCol="0"/>
          <a:lstStyle>
            <a:lvl1pPr algn="l" indent="0" marL="0">
              <a:buNone/>
              <a:defRPr lang="en-US" sz="3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B1F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097280"/>
            <a:ext cx="10698480" cy="146304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2743200"/>
            <a:ext cx="10058400" cy="1005840"/>
          </a:xfrm>
          <a:prstGeom prst="rect">
            <a:avLst/>
          </a:prstGeom>
          <a:noFill/>
          <a:ln/>
        </p:spPr>
        <p:txBody>
          <a:bodyPr wrap="square" rtlCol="0"/>
          <a:lstStyle>
            <a:lvl1pPr indent="0" marL="0">
              <a:buNone/>
              <a:defRPr lang="en-US" sz="2200" dirty="0">
                <a:solidFill>
                  <a:schemeClr val="bg2"/>
                </a:solidFill>
                <a:latin typeface="Calibri" pitchFamily="34" charset="0"/>
                <a:ea typeface="Calibri" pitchFamily="34" charset="-122"/>
                <a:cs typeface="Calibri" pitchFamily="34" charset="-120"/>
              </a:defRPr>
            </a:lvl1pPr>
          </a:lstStyle>
          <a:p>
            <a:pPr indent="0" marL="0">
              <a:buNone/>
            </a:pPr>
            <a:endParaRPr lang="en-US" sz="2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1B1F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914400"/>
            <a:ext cx="10698480" cy="1097280"/>
          </a:xfrm>
          <a:prstGeom prst="rect">
            <a:avLst/>
          </a:prstGeom>
          <a:noFill/>
          <a:ln/>
        </p:spPr>
        <p:txBody>
          <a:bodyPr wrap="square" rtlCol="0"/>
          <a:lstStyle>
            <a:lvl1pPr algn="l" indent="0" marL="0">
              <a:buNone/>
              <a:defRPr lang="en-US" sz="5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4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1B1F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731520" y="3611880"/>
            <a:ext cx="10058400" cy="914400"/>
          </a:xfrm>
          <a:prstGeom prst="rect">
            <a:avLst/>
          </a:prstGeom>
          <a:noFill/>
          <a:ln/>
        </p:spPr>
        <p:txBody>
          <a:bodyPr wrap="square" rtlCol="0"/>
          <a:lstStyle>
            <a:lvl1pPr indent="0" marL="0">
              <a:buNone/>
              <a:defRPr lang="en-US" sz="2000" dirty="0">
                <a:solidFill>
                  <a:schemeClr val="bg2"/>
                </a:solidFill>
                <a:latin typeface="Calibri" pitchFamily="34" charset="0"/>
                <a:ea typeface="Calibri" pitchFamily="34" charset="-122"/>
                <a:cs typeface="Calibri" pitchFamily="34" charset="-120"/>
              </a:defRPr>
            </a:lvl1pPr>
          </a:lstStyle>
          <a:p>
            <a:pPr indent="0" marL="0">
              <a:buNone/>
            </a:pPr>
            <a:endParaRPr lang="en-US" sz="20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822960"/>
          </a:xfrm>
          <a:prstGeom prst="rect">
            <a:avLst/>
          </a:prstGeom>
          <a:noFill/>
          <a:ln/>
        </p:spPr>
        <p:txBody>
          <a:bodyPr wrap="square" rtlCol="0"/>
          <a:lstStyle>
            <a:lvl1pPr algn="l" indent="0" marL="0">
              <a:buNone/>
              <a:defRPr lang="en-US" sz="28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ACKUP">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822960"/>
          </a:xfrm>
          <a:prstGeom prst="rect">
            <a:avLst/>
          </a:prstGeom>
          <a:noFill/>
          <a:ln/>
        </p:spPr>
        <p:txBody>
          <a:bodyPr wrap="square" rtlCol="0"/>
          <a:lstStyle>
            <a:lvl1pPr algn="l" indent="0" marL="0">
              <a:buNone/>
              <a:defRPr lang="en-US" sz="28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5720"/>
            <a:ext cx="2743200" cy="228600"/>
          </a:xfrm>
          <a:prstGeom prst="rect">
            <a:avLst/>
          </a:prstGeom>
          <a:noFill/>
          <a:ln/>
        </p:spPr>
        <p:txBody>
          <a:bodyPr wrap="square" lIns="0" tIns="0" rIns="0" bIns="0" rtlCol="0" anchor="ctr"/>
          <a:lstStyle/>
          <a:p>
            <a:pPr indent="0" marL="0">
              <a:buNone/>
            </a:pPr>
            <a:r>
              <a:rPr lang="en-US" sz="1100" b="1" spc="200" kern="0" dirty="0">
                <a:solidFill>
                  <a:schemeClr val="accent2"/>
                </a:solidFill>
              </a:rPr>
              <a:t>BACKUP</a:t>
            </a:r>
            <a:endParaRPr lang="en-US" sz="11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1007</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6.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6.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6.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7.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7.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7.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7.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7.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7.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7.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7.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7.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7.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7.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7.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280160"/>
            <a:ext cx="6766560" cy="4023360"/>
          </a:xfrm>
          <a:prstGeom prst="rect">
            <a:avLst/>
          </a:prstGeom>
          <a:noFill/>
          <a:ln/>
        </p:spPr>
        <p:txBody>
          <a:bodyPr wrap="square" lIns="0" tIns="0" rIns="0" bIns="0" rtlCol="0" anchor="ctr"/>
          <a:lstStyle/>
          <a:p>
            <a:pPr algn="l" indent="0" marL="0">
              <a:buNone/>
            </a:pPr>
            <a:r>
              <a:rPr lang="en-US" sz="3000" b="1" dirty="0">
                <a:solidFill>
                  <a:schemeClr val="bg2"/>
                </a:solidFill>
                <a:latin typeface="Cambria" pitchFamily="34" charset="0"/>
                <a:ea typeface="Cambria" pitchFamily="34" charset="-122"/>
                <a:cs typeface="Cambria" pitchFamily="34" charset="-120"/>
              </a:rPr>
              <a:t>We probe a network for an algorithm, and we find it.</a:t>
            </a:r>
            <a:endParaRPr lang="en-US" sz="3800" dirty="0"/>
          </a:p>
          <a:p>
            <a:pPr algn="l" indent="0" marL="0">
              <a:buNone/>
            </a:pPr>
            <a:r>
              <a:rPr lang="en-US" sz="1800" b="1" dirty="0">
                <a:solidFill>
                  <a:schemeClr val="bg1"/>
                </a:solidFill>
                <a:latin typeface="Cambria" pitchFamily="34" charset="0"/>
                <a:ea typeface="Cambria" pitchFamily="34" charset="-122"/>
                <a:cs typeface="Cambria" pitchFamily="34" charset="-120"/>
              </a:rPr>
              <a:t> </a:t>
            </a:r>
            <a:endParaRPr lang="en-US" sz="3800" dirty="0"/>
          </a:p>
          <a:p>
            <a:pPr algn="l" indent="0" marL="0">
              <a:buNone/>
            </a:pPr>
            <a:r>
              <a:rPr lang="en-US" sz="3800" b="1" dirty="0">
                <a:solidFill>
                  <a:schemeClr val="bg1"/>
                </a:solidFill>
                <a:latin typeface="Cambria" pitchFamily="34" charset="0"/>
                <a:ea typeface="Cambria" pitchFamily="34" charset="-122"/>
                <a:cs typeface="Cambria" pitchFamily="34" charset="-120"/>
              </a:rPr>
              <a:t>Does the network implement it, or did we manufacture it?</a:t>
            </a:r>
            <a:endParaRPr lang="en-US" sz="3800" dirty="0"/>
          </a:p>
        </p:txBody>
      </p:sp>
      <p:sp>
        <p:nvSpPr>
          <p:cNvPr id="3" name="grid column 1 cell 1"/>
          <p:cNvSpPr/>
          <p:nvPr/>
        </p:nvSpPr>
        <p:spPr>
          <a:xfrm>
            <a:off x="8183880" y="1691640"/>
            <a:ext cx="384048" cy="384048"/>
          </a:xfrm>
          <a:prstGeom prst="rect">
            <a:avLst/>
          </a:prstGeom>
          <a:solidFill>
            <a:srgbClr val="5B6C8F"/>
          </a:solidFill>
          <a:ln w="12700">
            <a:solidFill>
              <a:srgbClr val="1B1F2A"/>
            </a:solidFill>
            <a:prstDash val="solid"/>
          </a:ln>
        </p:spPr>
      </p:sp>
      <p:sp>
        <p:nvSpPr>
          <p:cNvPr id="4" name="grid column 1 cell 2"/>
          <p:cNvSpPr/>
          <p:nvPr/>
        </p:nvSpPr>
        <p:spPr>
          <a:xfrm>
            <a:off x="8183880" y="2075688"/>
            <a:ext cx="384048" cy="384048"/>
          </a:xfrm>
          <a:prstGeom prst="rect">
            <a:avLst/>
          </a:prstGeom>
          <a:solidFill>
            <a:srgbClr val="E3D9A6"/>
          </a:solidFill>
          <a:ln w="12700">
            <a:solidFill>
              <a:srgbClr val="1B1F2A"/>
            </a:solidFill>
            <a:prstDash val="solid"/>
          </a:ln>
        </p:spPr>
      </p:sp>
      <p:sp>
        <p:nvSpPr>
          <p:cNvPr id="5" name="grid column 1 cell 3"/>
          <p:cNvSpPr/>
          <p:nvPr/>
        </p:nvSpPr>
        <p:spPr>
          <a:xfrm>
            <a:off x="8183880" y="2459736"/>
            <a:ext cx="384048" cy="384048"/>
          </a:xfrm>
          <a:prstGeom prst="rect">
            <a:avLst/>
          </a:prstGeom>
          <a:solidFill>
            <a:srgbClr val="A39BC9"/>
          </a:solidFill>
          <a:ln w="12700">
            <a:solidFill>
              <a:srgbClr val="1B1F2A"/>
            </a:solidFill>
            <a:prstDash val="solid"/>
          </a:ln>
        </p:spPr>
      </p:sp>
      <p:sp>
        <p:nvSpPr>
          <p:cNvPr id="6" name="grid column 1 cell 4"/>
          <p:cNvSpPr/>
          <p:nvPr/>
        </p:nvSpPr>
        <p:spPr>
          <a:xfrm>
            <a:off x="8183880" y="2843784"/>
            <a:ext cx="384048" cy="384048"/>
          </a:xfrm>
          <a:prstGeom prst="rect">
            <a:avLst/>
          </a:prstGeom>
          <a:solidFill>
            <a:srgbClr val="C7CEE6"/>
          </a:solidFill>
          <a:ln w="12700">
            <a:solidFill>
              <a:srgbClr val="1B1F2A"/>
            </a:solidFill>
            <a:prstDash val="solid"/>
          </a:ln>
        </p:spPr>
      </p:sp>
      <p:sp>
        <p:nvSpPr>
          <p:cNvPr id="7" name="grid column 1 cell 5"/>
          <p:cNvSpPr/>
          <p:nvPr/>
        </p:nvSpPr>
        <p:spPr>
          <a:xfrm>
            <a:off x="8183880" y="3227832"/>
            <a:ext cx="384048" cy="384048"/>
          </a:xfrm>
          <a:prstGeom prst="rect">
            <a:avLst/>
          </a:prstGeom>
          <a:solidFill>
            <a:srgbClr val="4E7FA8"/>
          </a:solidFill>
          <a:ln w="12700">
            <a:solidFill>
              <a:srgbClr val="1B1F2A"/>
            </a:solidFill>
            <a:prstDash val="solid"/>
          </a:ln>
        </p:spPr>
      </p:sp>
      <p:sp>
        <p:nvSpPr>
          <p:cNvPr id="8" name="grid column 1 cell 6"/>
          <p:cNvSpPr/>
          <p:nvPr/>
        </p:nvSpPr>
        <p:spPr>
          <a:xfrm>
            <a:off x="8183880" y="3611880"/>
            <a:ext cx="384048" cy="384048"/>
          </a:xfrm>
          <a:prstGeom prst="rect">
            <a:avLst/>
          </a:prstGeom>
          <a:solidFill>
            <a:srgbClr val="B8A04E"/>
          </a:solidFill>
          <a:ln w="12700">
            <a:solidFill>
              <a:srgbClr val="1B1F2A"/>
            </a:solidFill>
            <a:prstDash val="solid"/>
          </a:ln>
        </p:spPr>
      </p:sp>
      <p:sp>
        <p:nvSpPr>
          <p:cNvPr id="9" name="grid column 1 cell 7"/>
          <p:cNvSpPr/>
          <p:nvPr/>
        </p:nvSpPr>
        <p:spPr>
          <a:xfrm>
            <a:off x="8183880" y="3995928"/>
            <a:ext cx="384048" cy="384048"/>
          </a:xfrm>
          <a:prstGeom prst="rect">
            <a:avLst/>
          </a:prstGeom>
          <a:solidFill>
            <a:srgbClr val="A39BC9"/>
          </a:solidFill>
          <a:ln w="12700">
            <a:solidFill>
              <a:srgbClr val="1B1F2A"/>
            </a:solidFill>
            <a:prstDash val="solid"/>
          </a:ln>
        </p:spPr>
      </p:sp>
      <p:sp>
        <p:nvSpPr>
          <p:cNvPr id="10" name="grid column 1 cell 8"/>
          <p:cNvSpPr/>
          <p:nvPr/>
        </p:nvSpPr>
        <p:spPr>
          <a:xfrm>
            <a:off x="8183880" y="4379976"/>
            <a:ext cx="384048" cy="384048"/>
          </a:xfrm>
          <a:prstGeom prst="rect">
            <a:avLst/>
          </a:prstGeom>
          <a:solidFill>
            <a:srgbClr val="9AA5B1"/>
          </a:solidFill>
          <a:ln w="12700">
            <a:solidFill>
              <a:srgbClr val="1B1F2A"/>
            </a:solidFill>
            <a:prstDash val="solid"/>
          </a:ln>
        </p:spPr>
      </p:sp>
      <p:sp>
        <p:nvSpPr>
          <p:cNvPr id="11" name="grid column 2 cell 1"/>
          <p:cNvSpPr/>
          <p:nvPr/>
        </p:nvSpPr>
        <p:spPr>
          <a:xfrm>
            <a:off x="8567928" y="1691640"/>
            <a:ext cx="384048" cy="384048"/>
          </a:xfrm>
          <a:prstGeom prst="rect">
            <a:avLst/>
          </a:prstGeom>
          <a:solidFill>
            <a:srgbClr val="9AA5B1"/>
          </a:solidFill>
          <a:ln w="12700">
            <a:solidFill>
              <a:srgbClr val="1B1F2A"/>
            </a:solidFill>
            <a:prstDash val="solid"/>
          </a:ln>
        </p:spPr>
      </p:sp>
      <p:sp>
        <p:nvSpPr>
          <p:cNvPr id="12" name="grid column 2 cell 2"/>
          <p:cNvSpPr/>
          <p:nvPr/>
        </p:nvSpPr>
        <p:spPr>
          <a:xfrm>
            <a:off x="8567928" y="2075688"/>
            <a:ext cx="384048" cy="384048"/>
          </a:xfrm>
          <a:prstGeom prst="rect">
            <a:avLst/>
          </a:prstGeom>
          <a:solidFill>
            <a:srgbClr val="B8A04E"/>
          </a:solidFill>
          <a:ln w="12700">
            <a:solidFill>
              <a:srgbClr val="1B1F2A"/>
            </a:solidFill>
            <a:prstDash val="solid"/>
          </a:ln>
        </p:spPr>
      </p:sp>
      <p:sp>
        <p:nvSpPr>
          <p:cNvPr id="13" name="grid column 2 cell 3"/>
          <p:cNvSpPr/>
          <p:nvPr/>
        </p:nvSpPr>
        <p:spPr>
          <a:xfrm>
            <a:off x="8567928" y="2459736"/>
            <a:ext cx="384048" cy="384048"/>
          </a:xfrm>
          <a:prstGeom prst="rect">
            <a:avLst/>
          </a:prstGeom>
          <a:solidFill>
            <a:srgbClr val="4E7FA8"/>
          </a:solidFill>
          <a:ln w="12700">
            <a:solidFill>
              <a:srgbClr val="1B1F2A"/>
            </a:solidFill>
            <a:prstDash val="solid"/>
          </a:ln>
        </p:spPr>
      </p:sp>
      <p:sp>
        <p:nvSpPr>
          <p:cNvPr id="14" name="grid column 2 cell 4"/>
          <p:cNvSpPr/>
          <p:nvPr/>
        </p:nvSpPr>
        <p:spPr>
          <a:xfrm>
            <a:off x="8567928" y="2843784"/>
            <a:ext cx="384048" cy="384048"/>
          </a:xfrm>
          <a:prstGeom prst="rect">
            <a:avLst/>
          </a:prstGeom>
          <a:solidFill>
            <a:srgbClr val="7FA7C9"/>
          </a:solidFill>
          <a:ln w="12700">
            <a:solidFill>
              <a:srgbClr val="1B1F2A"/>
            </a:solidFill>
            <a:prstDash val="solid"/>
          </a:ln>
        </p:spPr>
      </p:sp>
      <p:sp>
        <p:nvSpPr>
          <p:cNvPr id="15" name="grid column 2 cell 5"/>
          <p:cNvSpPr/>
          <p:nvPr/>
        </p:nvSpPr>
        <p:spPr>
          <a:xfrm>
            <a:off x="8567928" y="3227832"/>
            <a:ext cx="384048" cy="384048"/>
          </a:xfrm>
          <a:prstGeom prst="rect">
            <a:avLst/>
          </a:prstGeom>
          <a:solidFill>
            <a:srgbClr val="9AA5B1"/>
          </a:solidFill>
          <a:ln w="12700">
            <a:solidFill>
              <a:srgbClr val="1B1F2A"/>
            </a:solidFill>
            <a:prstDash val="solid"/>
          </a:ln>
        </p:spPr>
      </p:sp>
      <p:sp>
        <p:nvSpPr>
          <p:cNvPr id="16" name="grid column 2 cell 6"/>
          <p:cNvSpPr/>
          <p:nvPr/>
        </p:nvSpPr>
        <p:spPr>
          <a:xfrm>
            <a:off x="8567928" y="3611880"/>
            <a:ext cx="384048" cy="384048"/>
          </a:xfrm>
          <a:prstGeom prst="rect">
            <a:avLst/>
          </a:prstGeom>
          <a:solidFill>
            <a:srgbClr val="C7CEE6"/>
          </a:solidFill>
          <a:ln w="12700">
            <a:solidFill>
              <a:srgbClr val="1B1F2A"/>
            </a:solidFill>
            <a:prstDash val="solid"/>
          </a:ln>
        </p:spPr>
      </p:sp>
      <p:sp>
        <p:nvSpPr>
          <p:cNvPr id="17" name="grid column 2 cell 7"/>
          <p:cNvSpPr/>
          <p:nvPr/>
        </p:nvSpPr>
        <p:spPr>
          <a:xfrm>
            <a:off x="8567928" y="3995928"/>
            <a:ext cx="384048" cy="384048"/>
          </a:xfrm>
          <a:prstGeom prst="rect">
            <a:avLst/>
          </a:prstGeom>
          <a:solidFill>
            <a:srgbClr val="6E5A9E"/>
          </a:solidFill>
          <a:ln w="12700">
            <a:solidFill>
              <a:srgbClr val="1B1F2A"/>
            </a:solidFill>
            <a:prstDash val="solid"/>
          </a:ln>
        </p:spPr>
      </p:sp>
      <p:sp>
        <p:nvSpPr>
          <p:cNvPr id="18" name="grid column 2 cell 8"/>
          <p:cNvSpPr/>
          <p:nvPr/>
        </p:nvSpPr>
        <p:spPr>
          <a:xfrm>
            <a:off x="8567928" y="4379976"/>
            <a:ext cx="384048" cy="384048"/>
          </a:xfrm>
          <a:prstGeom prst="rect">
            <a:avLst/>
          </a:prstGeom>
          <a:solidFill>
            <a:srgbClr val="4E7FA8"/>
          </a:solidFill>
          <a:ln w="12700">
            <a:solidFill>
              <a:srgbClr val="1B1F2A"/>
            </a:solidFill>
            <a:prstDash val="solid"/>
          </a:ln>
        </p:spPr>
      </p:sp>
      <p:sp>
        <p:nvSpPr>
          <p:cNvPr id="19" name="grid column 3 cell 1"/>
          <p:cNvSpPr/>
          <p:nvPr/>
        </p:nvSpPr>
        <p:spPr>
          <a:xfrm>
            <a:off x="8951976" y="1691640"/>
            <a:ext cx="384048" cy="384048"/>
          </a:xfrm>
          <a:prstGeom prst="rect">
            <a:avLst/>
          </a:prstGeom>
          <a:solidFill>
            <a:srgbClr val="4E7FA8"/>
          </a:solidFill>
          <a:ln w="12700">
            <a:solidFill>
              <a:srgbClr val="1B1F2A"/>
            </a:solidFill>
            <a:prstDash val="solid"/>
          </a:ln>
        </p:spPr>
      </p:sp>
      <p:sp>
        <p:nvSpPr>
          <p:cNvPr id="20" name="grid column 3 cell 2"/>
          <p:cNvSpPr/>
          <p:nvPr/>
        </p:nvSpPr>
        <p:spPr>
          <a:xfrm>
            <a:off x="8951976" y="2075688"/>
            <a:ext cx="384048" cy="384048"/>
          </a:xfrm>
          <a:prstGeom prst="rect">
            <a:avLst/>
          </a:prstGeom>
          <a:solidFill>
            <a:srgbClr val="5B6C8F"/>
          </a:solidFill>
          <a:ln w="12700">
            <a:solidFill>
              <a:srgbClr val="1B1F2A"/>
            </a:solidFill>
            <a:prstDash val="solid"/>
          </a:ln>
        </p:spPr>
      </p:sp>
      <p:sp>
        <p:nvSpPr>
          <p:cNvPr id="21" name="grid column 3 cell 3"/>
          <p:cNvSpPr/>
          <p:nvPr/>
        </p:nvSpPr>
        <p:spPr>
          <a:xfrm>
            <a:off x="8951976" y="2459736"/>
            <a:ext cx="384048" cy="384048"/>
          </a:xfrm>
          <a:prstGeom prst="rect">
            <a:avLst/>
          </a:prstGeom>
          <a:solidFill>
            <a:srgbClr val="4E7FA8"/>
          </a:solidFill>
          <a:ln w="12700">
            <a:solidFill>
              <a:srgbClr val="1B1F2A"/>
            </a:solidFill>
            <a:prstDash val="solid"/>
          </a:ln>
        </p:spPr>
      </p:sp>
      <p:sp>
        <p:nvSpPr>
          <p:cNvPr id="22" name="grid column 3 cell 4"/>
          <p:cNvSpPr/>
          <p:nvPr/>
        </p:nvSpPr>
        <p:spPr>
          <a:xfrm>
            <a:off x="8951976" y="2843784"/>
            <a:ext cx="384048" cy="384048"/>
          </a:xfrm>
          <a:prstGeom prst="rect">
            <a:avLst/>
          </a:prstGeom>
          <a:solidFill>
            <a:srgbClr val="D9C27A"/>
          </a:solidFill>
          <a:ln w="12700">
            <a:solidFill>
              <a:srgbClr val="1B1F2A"/>
            </a:solidFill>
            <a:prstDash val="solid"/>
          </a:ln>
        </p:spPr>
      </p:sp>
      <p:sp>
        <p:nvSpPr>
          <p:cNvPr id="23" name="grid column 3 cell 5"/>
          <p:cNvSpPr/>
          <p:nvPr/>
        </p:nvSpPr>
        <p:spPr>
          <a:xfrm>
            <a:off x="8951976" y="3227832"/>
            <a:ext cx="384048" cy="384048"/>
          </a:xfrm>
          <a:prstGeom prst="rect">
            <a:avLst/>
          </a:prstGeom>
          <a:solidFill>
            <a:srgbClr val="E3D9A6"/>
          </a:solidFill>
          <a:ln w="12700">
            <a:solidFill>
              <a:srgbClr val="1B1F2A"/>
            </a:solidFill>
            <a:prstDash val="solid"/>
          </a:ln>
        </p:spPr>
      </p:sp>
      <p:sp>
        <p:nvSpPr>
          <p:cNvPr id="24" name="grid column 3 cell 6"/>
          <p:cNvSpPr/>
          <p:nvPr/>
        </p:nvSpPr>
        <p:spPr>
          <a:xfrm>
            <a:off x="8951976" y="3611880"/>
            <a:ext cx="384048" cy="384048"/>
          </a:xfrm>
          <a:prstGeom prst="rect">
            <a:avLst/>
          </a:prstGeom>
          <a:solidFill>
            <a:srgbClr val="9AA5B1"/>
          </a:solidFill>
          <a:ln w="12700">
            <a:solidFill>
              <a:srgbClr val="1B1F2A"/>
            </a:solidFill>
            <a:prstDash val="solid"/>
          </a:ln>
        </p:spPr>
      </p:sp>
      <p:sp>
        <p:nvSpPr>
          <p:cNvPr id="25" name="grid column 3 cell 7"/>
          <p:cNvSpPr/>
          <p:nvPr/>
        </p:nvSpPr>
        <p:spPr>
          <a:xfrm>
            <a:off x="8951976" y="3995928"/>
            <a:ext cx="384048" cy="384048"/>
          </a:xfrm>
          <a:prstGeom prst="rect">
            <a:avLst/>
          </a:prstGeom>
          <a:solidFill>
            <a:srgbClr val="8E9CC2"/>
          </a:solidFill>
          <a:ln w="12700">
            <a:solidFill>
              <a:srgbClr val="1B1F2A"/>
            </a:solidFill>
            <a:prstDash val="solid"/>
          </a:ln>
        </p:spPr>
      </p:sp>
      <p:sp>
        <p:nvSpPr>
          <p:cNvPr id="26" name="grid column 3 cell 8"/>
          <p:cNvSpPr/>
          <p:nvPr/>
        </p:nvSpPr>
        <p:spPr>
          <a:xfrm>
            <a:off x="8951976" y="4379976"/>
            <a:ext cx="384048" cy="384048"/>
          </a:xfrm>
          <a:prstGeom prst="rect">
            <a:avLst/>
          </a:prstGeom>
          <a:solidFill>
            <a:srgbClr val="B8A04E"/>
          </a:solidFill>
          <a:ln w="12700">
            <a:solidFill>
              <a:srgbClr val="1B1F2A"/>
            </a:solidFill>
            <a:prstDash val="solid"/>
          </a:ln>
        </p:spPr>
      </p:sp>
      <p:sp>
        <p:nvSpPr>
          <p:cNvPr id="27" name="grid column 4 cell 1"/>
          <p:cNvSpPr/>
          <p:nvPr/>
        </p:nvSpPr>
        <p:spPr>
          <a:xfrm>
            <a:off x="9336024" y="1691640"/>
            <a:ext cx="384048" cy="384048"/>
          </a:xfrm>
          <a:prstGeom prst="rect">
            <a:avLst/>
          </a:prstGeom>
          <a:solidFill>
            <a:srgbClr val="E3D9A6"/>
          </a:solidFill>
          <a:ln w="12700">
            <a:solidFill>
              <a:srgbClr val="1B1F2A"/>
            </a:solidFill>
            <a:prstDash val="solid"/>
          </a:ln>
        </p:spPr>
      </p:sp>
      <p:sp>
        <p:nvSpPr>
          <p:cNvPr id="28" name="grid column 4 cell 2"/>
          <p:cNvSpPr/>
          <p:nvPr/>
        </p:nvSpPr>
        <p:spPr>
          <a:xfrm>
            <a:off x="9336024" y="2075688"/>
            <a:ext cx="384048" cy="384048"/>
          </a:xfrm>
          <a:prstGeom prst="rect">
            <a:avLst/>
          </a:prstGeom>
          <a:solidFill>
            <a:srgbClr val="4E7FA8"/>
          </a:solidFill>
          <a:ln w="12700">
            <a:solidFill>
              <a:srgbClr val="1B1F2A"/>
            </a:solidFill>
            <a:prstDash val="solid"/>
          </a:ln>
        </p:spPr>
      </p:sp>
      <p:sp>
        <p:nvSpPr>
          <p:cNvPr id="29" name="grid column 4 cell 3"/>
          <p:cNvSpPr/>
          <p:nvPr/>
        </p:nvSpPr>
        <p:spPr>
          <a:xfrm>
            <a:off x="9336024" y="2459736"/>
            <a:ext cx="384048" cy="384048"/>
          </a:xfrm>
          <a:prstGeom prst="rect">
            <a:avLst/>
          </a:prstGeom>
          <a:solidFill>
            <a:srgbClr val="7FA7C9"/>
          </a:solidFill>
          <a:ln w="12700">
            <a:solidFill>
              <a:srgbClr val="1B1F2A"/>
            </a:solidFill>
            <a:prstDash val="solid"/>
          </a:ln>
        </p:spPr>
      </p:sp>
      <p:sp>
        <p:nvSpPr>
          <p:cNvPr id="30" name="grid column 4 cell 4"/>
          <p:cNvSpPr/>
          <p:nvPr/>
        </p:nvSpPr>
        <p:spPr>
          <a:xfrm>
            <a:off x="9336024" y="2843784"/>
            <a:ext cx="384048" cy="384048"/>
          </a:xfrm>
          <a:prstGeom prst="rect">
            <a:avLst/>
          </a:prstGeom>
          <a:solidFill>
            <a:srgbClr val="B8A04E"/>
          </a:solidFill>
          <a:ln w="12700">
            <a:solidFill>
              <a:srgbClr val="1B1F2A"/>
            </a:solidFill>
            <a:prstDash val="solid"/>
          </a:ln>
        </p:spPr>
      </p:sp>
      <p:sp>
        <p:nvSpPr>
          <p:cNvPr id="31" name="grid column 4 cell 5"/>
          <p:cNvSpPr/>
          <p:nvPr/>
        </p:nvSpPr>
        <p:spPr>
          <a:xfrm>
            <a:off x="9336024" y="3227832"/>
            <a:ext cx="384048" cy="384048"/>
          </a:xfrm>
          <a:prstGeom prst="rect">
            <a:avLst/>
          </a:prstGeom>
          <a:solidFill>
            <a:srgbClr val="C9B8DD"/>
          </a:solidFill>
          <a:ln w="12700">
            <a:solidFill>
              <a:srgbClr val="1B1F2A"/>
            </a:solidFill>
            <a:prstDash val="solid"/>
          </a:ln>
        </p:spPr>
      </p:sp>
      <p:sp>
        <p:nvSpPr>
          <p:cNvPr id="32" name="grid column 4 cell 6"/>
          <p:cNvSpPr/>
          <p:nvPr/>
        </p:nvSpPr>
        <p:spPr>
          <a:xfrm>
            <a:off x="9336024" y="3611880"/>
            <a:ext cx="384048" cy="384048"/>
          </a:xfrm>
          <a:prstGeom prst="rect">
            <a:avLst/>
          </a:prstGeom>
          <a:solidFill>
            <a:srgbClr val="C9B8DD"/>
          </a:solidFill>
          <a:ln w="12700">
            <a:solidFill>
              <a:srgbClr val="1B1F2A"/>
            </a:solidFill>
            <a:prstDash val="solid"/>
          </a:ln>
        </p:spPr>
      </p:sp>
      <p:sp>
        <p:nvSpPr>
          <p:cNvPr id="33" name="grid column 4 cell 7"/>
          <p:cNvSpPr/>
          <p:nvPr/>
        </p:nvSpPr>
        <p:spPr>
          <a:xfrm>
            <a:off x="9336024" y="3995928"/>
            <a:ext cx="384048" cy="384048"/>
          </a:xfrm>
          <a:prstGeom prst="rect">
            <a:avLst/>
          </a:prstGeom>
          <a:solidFill>
            <a:srgbClr val="6E5A9E"/>
          </a:solidFill>
          <a:ln w="12700">
            <a:solidFill>
              <a:srgbClr val="1B1F2A"/>
            </a:solidFill>
            <a:prstDash val="solid"/>
          </a:ln>
        </p:spPr>
      </p:sp>
      <p:sp>
        <p:nvSpPr>
          <p:cNvPr id="34" name="grid column 4 cell 8"/>
          <p:cNvSpPr/>
          <p:nvPr/>
        </p:nvSpPr>
        <p:spPr>
          <a:xfrm>
            <a:off x="9336024" y="4379976"/>
            <a:ext cx="384048" cy="384048"/>
          </a:xfrm>
          <a:prstGeom prst="rect">
            <a:avLst/>
          </a:prstGeom>
          <a:solidFill>
            <a:srgbClr val="6E5A9E"/>
          </a:solidFill>
          <a:ln w="12700">
            <a:solidFill>
              <a:srgbClr val="1B1F2A"/>
            </a:solidFill>
            <a:prstDash val="solid"/>
          </a:ln>
        </p:spPr>
      </p:sp>
      <p:sp>
        <p:nvSpPr>
          <p:cNvPr id="35" name="grid column 5 cell 1"/>
          <p:cNvSpPr/>
          <p:nvPr/>
        </p:nvSpPr>
        <p:spPr>
          <a:xfrm>
            <a:off x="9720072" y="1691640"/>
            <a:ext cx="384048" cy="384048"/>
          </a:xfrm>
          <a:prstGeom prst="rect">
            <a:avLst/>
          </a:prstGeom>
          <a:solidFill>
            <a:srgbClr val="C9B8DD"/>
          </a:solidFill>
          <a:ln w="12700">
            <a:solidFill>
              <a:srgbClr val="1B1F2A"/>
            </a:solidFill>
            <a:prstDash val="solid"/>
          </a:ln>
        </p:spPr>
      </p:sp>
      <p:sp>
        <p:nvSpPr>
          <p:cNvPr id="36" name="grid column 5 cell 2"/>
          <p:cNvSpPr/>
          <p:nvPr/>
        </p:nvSpPr>
        <p:spPr>
          <a:xfrm>
            <a:off x="9720072" y="2075688"/>
            <a:ext cx="384048" cy="384048"/>
          </a:xfrm>
          <a:prstGeom prst="rect">
            <a:avLst/>
          </a:prstGeom>
          <a:solidFill>
            <a:srgbClr val="A39BC9"/>
          </a:solidFill>
          <a:ln w="12700">
            <a:solidFill>
              <a:srgbClr val="1B1F2A"/>
            </a:solidFill>
            <a:prstDash val="solid"/>
          </a:ln>
        </p:spPr>
      </p:sp>
      <p:sp>
        <p:nvSpPr>
          <p:cNvPr id="37" name="grid column 5 cell 3"/>
          <p:cNvSpPr/>
          <p:nvPr/>
        </p:nvSpPr>
        <p:spPr>
          <a:xfrm>
            <a:off x="9720072" y="2459736"/>
            <a:ext cx="384048" cy="384048"/>
          </a:xfrm>
          <a:prstGeom prst="rect">
            <a:avLst/>
          </a:prstGeom>
          <a:solidFill>
            <a:srgbClr val="8E9CC2"/>
          </a:solidFill>
          <a:ln w="12700">
            <a:solidFill>
              <a:srgbClr val="1B1F2A"/>
            </a:solidFill>
            <a:prstDash val="solid"/>
          </a:ln>
        </p:spPr>
      </p:sp>
      <p:sp>
        <p:nvSpPr>
          <p:cNvPr id="38" name="grid column 5 cell 4"/>
          <p:cNvSpPr/>
          <p:nvPr/>
        </p:nvSpPr>
        <p:spPr>
          <a:xfrm>
            <a:off x="9720072" y="2843784"/>
            <a:ext cx="384048" cy="384048"/>
          </a:xfrm>
          <a:prstGeom prst="rect">
            <a:avLst/>
          </a:prstGeom>
          <a:solidFill>
            <a:srgbClr val="A39BC9"/>
          </a:solidFill>
          <a:ln w="12700">
            <a:solidFill>
              <a:srgbClr val="1B1F2A"/>
            </a:solidFill>
            <a:prstDash val="solid"/>
          </a:ln>
        </p:spPr>
      </p:sp>
      <p:sp>
        <p:nvSpPr>
          <p:cNvPr id="39" name="grid column 5 cell 5"/>
          <p:cNvSpPr/>
          <p:nvPr/>
        </p:nvSpPr>
        <p:spPr>
          <a:xfrm>
            <a:off x="9720072" y="3227832"/>
            <a:ext cx="384048" cy="384048"/>
          </a:xfrm>
          <a:prstGeom prst="rect">
            <a:avLst/>
          </a:prstGeom>
          <a:solidFill>
            <a:srgbClr val="D9C27A"/>
          </a:solidFill>
          <a:ln w="12700">
            <a:solidFill>
              <a:srgbClr val="1B1F2A"/>
            </a:solidFill>
            <a:prstDash val="solid"/>
          </a:ln>
        </p:spPr>
      </p:sp>
      <p:sp>
        <p:nvSpPr>
          <p:cNvPr id="40" name="grid column 5 cell 6"/>
          <p:cNvSpPr/>
          <p:nvPr/>
        </p:nvSpPr>
        <p:spPr>
          <a:xfrm>
            <a:off x="9720072" y="3611880"/>
            <a:ext cx="384048" cy="384048"/>
          </a:xfrm>
          <a:prstGeom prst="rect">
            <a:avLst/>
          </a:prstGeom>
          <a:solidFill>
            <a:srgbClr val="A39BC9"/>
          </a:solidFill>
          <a:ln w="12700">
            <a:solidFill>
              <a:srgbClr val="1B1F2A"/>
            </a:solidFill>
            <a:prstDash val="solid"/>
          </a:ln>
        </p:spPr>
      </p:sp>
      <p:sp>
        <p:nvSpPr>
          <p:cNvPr id="41" name="grid column 5 cell 7"/>
          <p:cNvSpPr/>
          <p:nvPr/>
        </p:nvSpPr>
        <p:spPr>
          <a:xfrm>
            <a:off x="9720072" y="3995928"/>
            <a:ext cx="384048" cy="384048"/>
          </a:xfrm>
          <a:prstGeom prst="rect">
            <a:avLst/>
          </a:prstGeom>
          <a:solidFill>
            <a:srgbClr val="E3D9A6"/>
          </a:solidFill>
          <a:ln w="12700">
            <a:solidFill>
              <a:srgbClr val="1B1F2A"/>
            </a:solidFill>
            <a:prstDash val="solid"/>
          </a:ln>
        </p:spPr>
      </p:sp>
      <p:sp>
        <p:nvSpPr>
          <p:cNvPr id="42" name="grid column 5 cell 8"/>
          <p:cNvSpPr/>
          <p:nvPr/>
        </p:nvSpPr>
        <p:spPr>
          <a:xfrm>
            <a:off x="9720072" y="4379976"/>
            <a:ext cx="384048" cy="384048"/>
          </a:xfrm>
          <a:prstGeom prst="rect">
            <a:avLst/>
          </a:prstGeom>
          <a:solidFill>
            <a:srgbClr val="B8A04E"/>
          </a:solidFill>
          <a:ln w="12700">
            <a:solidFill>
              <a:srgbClr val="1B1F2A"/>
            </a:solidFill>
            <a:prstDash val="solid"/>
          </a:ln>
        </p:spPr>
      </p:sp>
      <p:sp>
        <p:nvSpPr>
          <p:cNvPr id="43" name="grid column 6 cell 1"/>
          <p:cNvSpPr/>
          <p:nvPr/>
        </p:nvSpPr>
        <p:spPr>
          <a:xfrm>
            <a:off x="10104120" y="1691640"/>
            <a:ext cx="384048" cy="384048"/>
          </a:xfrm>
          <a:prstGeom prst="rect">
            <a:avLst/>
          </a:prstGeom>
          <a:solidFill>
            <a:srgbClr val="4E7FA8"/>
          </a:solidFill>
          <a:ln w="12700">
            <a:solidFill>
              <a:srgbClr val="1B1F2A"/>
            </a:solidFill>
            <a:prstDash val="solid"/>
          </a:ln>
        </p:spPr>
      </p:sp>
      <p:sp>
        <p:nvSpPr>
          <p:cNvPr id="44" name="grid column 6 cell 2"/>
          <p:cNvSpPr/>
          <p:nvPr/>
        </p:nvSpPr>
        <p:spPr>
          <a:xfrm>
            <a:off x="10104120" y="2075688"/>
            <a:ext cx="384048" cy="384048"/>
          </a:xfrm>
          <a:prstGeom prst="rect">
            <a:avLst/>
          </a:prstGeom>
          <a:solidFill>
            <a:srgbClr val="C9B8DD"/>
          </a:solidFill>
          <a:ln w="12700">
            <a:solidFill>
              <a:srgbClr val="1B1F2A"/>
            </a:solidFill>
            <a:prstDash val="solid"/>
          </a:ln>
        </p:spPr>
      </p:sp>
      <p:sp>
        <p:nvSpPr>
          <p:cNvPr id="45" name="grid column 6 cell 3"/>
          <p:cNvSpPr/>
          <p:nvPr/>
        </p:nvSpPr>
        <p:spPr>
          <a:xfrm>
            <a:off x="10104120" y="2459736"/>
            <a:ext cx="384048" cy="384048"/>
          </a:xfrm>
          <a:prstGeom prst="rect">
            <a:avLst/>
          </a:prstGeom>
          <a:solidFill>
            <a:srgbClr val="5B6C8F"/>
          </a:solidFill>
          <a:ln w="12700">
            <a:solidFill>
              <a:srgbClr val="1B1F2A"/>
            </a:solidFill>
            <a:prstDash val="solid"/>
          </a:ln>
        </p:spPr>
      </p:sp>
      <p:sp>
        <p:nvSpPr>
          <p:cNvPr id="46" name="grid column 6 cell 4"/>
          <p:cNvSpPr/>
          <p:nvPr/>
        </p:nvSpPr>
        <p:spPr>
          <a:xfrm>
            <a:off x="10104120" y="2843784"/>
            <a:ext cx="384048" cy="384048"/>
          </a:xfrm>
          <a:prstGeom prst="rect">
            <a:avLst/>
          </a:prstGeom>
          <a:solidFill>
            <a:srgbClr val="A39BC9"/>
          </a:solidFill>
          <a:ln w="12700">
            <a:solidFill>
              <a:srgbClr val="1B1F2A"/>
            </a:solidFill>
            <a:prstDash val="solid"/>
          </a:ln>
        </p:spPr>
      </p:sp>
      <p:sp>
        <p:nvSpPr>
          <p:cNvPr id="47" name="grid column 6 cell 5"/>
          <p:cNvSpPr/>
          <p:nvPr/>
        </p:nvSpPr>
        <p:spPr>
          <a:xfrm>
            <a:off x="10104120" y="3227832"/>
            <a:ext cx="384048" cy="384048"/>
          </a:xfrm>
          <a:prstGeom prst="rect">
            <a:avLst/>
          </a:prstGeom>
          <a:solidFill>
            <a:srgbClr val="B8A04E"/>
          </a:solidFill>
          <a:ln w="12700">
            <a:solidFill>
              <a:srgbClr val="1B1F2A"/>
            </a:solidFill>
            <a:prstDash val="solid"/>
          </a:ln>
        </p:spPr>
      </p:sp>
      <p:sp>
        <p:nvSpPr>
          <p:cNvPr id="48" name="grid column 6 cell 6"/>
          <p:cNvSpPr/>
          <p:nvPr/>
        </p:nvSpPr>
        <p:spPr>
          <a:xfrm>
            <a:off x="10104120" y="3611880"/>
            <a:ext cx="384048" cy="384048"/>
          </a:xfrm>
          <a:prstGeom prst="rect">
            <a:avLst/>
          </a:prstGeom>
          <a:solidFill>
            <a:srgbClr val="B8A04E"/>
          </a:solidFill>
          <a:ln w="12700">
            <a:solidFill>
              <a:srgbClr val="1B1F2A"/>
            </a:solidFill>
            <a:prstDash val="solid"/>
          </a:ln>
        </p:spPr>
      </p:sp>
      <p:sp>
        <p:nvSpPr>
          <p:cNvPr id="49" name="grid column 6 cell 7"/>
          <p:cNvSpPr/>
          <p:nvPr/>
        </p:nvSpPr>
        <p:spPr>
          <a:xfrm>
            <a:off x="10104120" y="3995928"/>
            <a:ext cx="384048" cy="384048"/>
          </a:xfrm>
          <a:prstGeom prst="rect">
            <a:avLst/>
          </a:prstGeom>
          <a:solidFill>
            <a:srgbClr val="D9C27A"/>
          </a:solidFill>
          <a:ln w="12700">
            <a:solidFill>
              <a:srgbClr val="1B1F2A"/>
            </a:solidFill>
            <a:prstDash val="solid"/>
          </a:ln>
        </p:spPr>
      </p:sp>
      <p:sp>
        <p:nvSpPr>
          <p:cNvPr id="50" name="grid column 6 cell 8"/>
          <p:cNvSpPr/>
          <p:nvPr/>
        </p:nvSpPr>
        <p:spPr>
          <a:xfrm>
            <a:off x="10104120" y="4379976"/>
            <a:ext cx="384048" cy="384048"/>
          </a:xfrm>
          <a:prstGeom prst="rect">
            <a:avLst/>
          </a:prstGeom>
          <a:solidFill>
            <a:srgbClr val="C7CEE6"/>
          </a:solidFill>
          <a:ln w="12700">
            <a:solidFill>
              <a:srgbClr val="1B1F2A"/>
            </a:solidFill>
            <a:prstDash val="solid"/>
          </a:ln>
        </p:spPr>
      </p:sp>
      <p:sp>
        <p:nvSpPr>
          <p:cNvPr id="51" name="grid column 7 cell 1"/>
          <p:cNvSpPr/>
          <p:nvPr/>
        </p:nvSpPr>
        <p:spPr>
          <a:xfrm>
            <a:off x="10488168" y="1691640"/>
            <a:ext cx="384048" cy="384048"/>
          </a:xfrm>
          <a:prstGeom prst="rect">
            <a:avLst/>
          </a:prstGeom>
          <a:solidFill>
            <a:srgbClr val="C9B8DD"/>
          </a:solidFill>
          <a:ln w="12700">
            <a:solidFill>
              <a:srgbClr val="1B1F2A"/>
            </a:solidFill>
            <a:prstDash val="solid"/>
          </a:ln>
        </p:spPr>
      </p:sp>
      <p:sp>
        <p:nvSpPr>
          <p:cNvPr id="52" name="grid column 7 cell 2"/>
          <p:cNvSpPr/>
          <p:nvPr/>
        </p:nvSpPr>
        <p:spPr>
          <a:xfrm>
            <a:off x="10488168" y="2075688"/>
            <a:ext cx="384048" cy="384048"/>
          </a:xfrm>
          <a:prstGeom prst="rect">
            <a:avLst/>
          </a:prstGeom>
          <a:solidFill>
            <a:srgbClr val="5B6C8F"/>
          </a:solidFill>
          <a:ln w="12700">
            <a:solidFill>
              <a:srgbClr val="1B1F2A"/>
            </a:solidFill>
            <a:prstDash val="solid"/>
          </a:ln>
        </p:spPr>
      </p:sp>
      <p:sp>
        <p:nvSpPr>
          <p:cNvPr id="53" name="grid column 7 cell 3"/>
          <p:cNvSpPr/>
          <p:nvPr/>
        </p:nvSpPr>
        <p:spPr>
          <a:xfrm>
            <a:off x="10488168" y="2459736"/>
            <a:ext cx="384048" cy="384048"/>
          </a:xfrm>
          <a:prstGeom prst="rect">
            <a:avLst/>
          </a:prstGeom>
          <a:solidFill>
            <a:srgbClr val="6E5A9E"/>
          </a:solidFill>
          <a:ln w="12700">
            <a:solidFill>
              <a:srgbClr val="1B1F2A"/>
            </a:solidFill>
            <a:prstDash val="solid"/>
          </a:ln>
        </p:spPr>
      </p:sp>
      <p:sp>
        <p:nvSpPr>
          <p:cNvPr id="54" name="grid column 7 cell 4"/>
          <p:cNvSpPr/>
          <p:nvPr/>
        </p:nvSpPr>
        <p:spPr>
          <a:xfrm>
            <a:off x="10488168" y="2843784"/>
            <a:ext cx="384048" cy="384048"/>
          </a:xfrm>
          <a:prstGeom prst="rect">
            <a:avLst/>
          </a:prstGeom>
          <a:solidFill>
            <a:srgbClr val="6E5A9E"/>
          </a:solidFill>
          <a:ln w="12700">
            <a:solidFill>
              <a:srgbClr val="1B1F2A"/>
            </a:solidFill>
            <a:prstDash val="solid"/>
          </a:ln>
        </p:spPr>
      </p:sp>
      <p:sp>
        <p:nvSpPr>
          <p:cNvPr id="55" name="grid column 7 cell 5"/>
          <p:cNvSpPr/>
          <p:nvPr/>
        </p:nvSpPr>
        <p:spPr>
          <a:xfrm>
            <a:off x="10488168" y="3227832"/>
            <a:ext cx="384048" cy="384048"/>
          </a:xfrm>
          <a:prstGeom prst="rect">
            <a:avLst/>
          </a:prstGeom>
          <a:solidFill>
            <a:srgbClr val="7FA7C9"/>
          </a:solidFill>
          <a:ln w="12700">
            <a:solidFill>
              <a:srgbClr val="1B1F2A"/>
            </a:solidFill>
            <a:prstDash val="solid"/>
          </a:ln>
        </p:spPr>
      </p:sp>
      <p:sp>
        <p:nvSpPr>
          <p:cNvPr id="56" name="grid column 7 cell 6"/>
          <p:cNvSpPr/>
          <p:nvPr/>
        </p:nvSpPr>
        <p:spPr>
          <a:xfrm>
            <a:off x="10488168" y="3611880"/>
            <a:ext cx="384048" cy="384048"/>
          </a:xfrm>
          <a:prstGeom prst="rect">
            <a:avLst/>
          </a:prstGeom>
          <a:solidFill>
            <a:srgbClr val="E3D9A6"/>
          </a:solidFill>
          <a:ln w="12700">
            <a:solidFill>
              <a:srgbClr val="1B1F2A"/>
            </a:solidFill>
            <a:prstDash val="solid"/>
          </a:ln>
        </p:spPr>
      </p:sp>
      <p:sp>
        <p:nvSpPr>
          <p:cNvPr id="57" name="grid column 7 cell 7"/>
          <p:cNvSpPr/>
          <p:nvPr/>
        </p:nvSpPr>
        <p:spPr>
          <a:xfrm>
            <a:off x="10488168" y="3995928"/>
            <a:ext cx="384048" cy="384048"/>
          </a:xfrm>
          <a:prstGeom prst="rect">
            <a:avLst/>
          </a:prstGeom>
          <a:solidFill>
            <a:srgbClr val="B8A04E"/>
          </a:solidFill>
          <a:ln w="12700">
            <a:solidFill>
              <a:srgbClr val="1B1F2A"/>
            </a:solidFill>
            <a:prstDash val="solid"/>
          </a:ln>
        </p:spPr>
      </p:sp>
      <p:sp>
        <p:nvSpPr>
          <p:cNvPr id="58" name="grid column 7 cell 8"/>
          <p:cNvSpPr/>
          <p:nvPr/>
        </p:nvSpPr>
        <p:spPr>
          <a:xfrm>
            <a:off x="10488168" y="4379976"/>
            <a:ext cx="384048" cy="384048"/>
          </a:xfrm>
          <a:prstGeom prst="rect">
            <a:avLst/>
          </a:prstGeom>
          <a:solidFill>
            <a:srgbClr val="8E9CC2"/>
          </a:solidFill>
          <a:ln w="12700">
            <a:solidFill>
              <a:srgbClr val="1B1F2A"/>
            </a:solidFill>
            <a:prstDash val="solid"/>
          </a:ln>
        </p:spPr>
      </p:sp>
      <p:sp>
        <p:nvSpPr>
          <p:cNvPr id="59" name="claimed variable"/>
          <p:cNvSpPr/>
          <p:nvPr/>
        </p:nvSpPr>
        <p:spPr>
          <a:xfrm>
            <a:off x="10424160" y="2395728"/>
            <a:ext cx="512064" cy="1664208"/>
          </a:xfrm>
          <a:prstGeom prst="roundRect">
            <a:avLst>
              <a:gd name="adj" fmla="val 10714"/>
            </a:avLst>
          </a:prstGeom>
          <a:ln w="38100">
            <a:solidFill>
              <a:srgbClr val="EDA100"/>
            </a:solidFill>
            <a:prstDash val="dash"/>
          </a:ln>
        </p:spPr>
      </p:sp>
      <p:sp>
        <p:nvSpPr>
          <p:cNvPr id="60" name="Text 58"/>
          <p:cNvSpPr txBox="1"/>
          <p:nvPr/>
        </p:nvSpPr>
        <p:spPr>
          <a:xfrm>
            <a:off x="11146536" y="2770632"/>
            <a:ext cx="640080" cy="914400"/>
          </a:xfrm>
          <a:prstGeom prst="rect">
            <a:avLst/>
          </a:prstGeom>
          <a:noFill/>
          <a:ln/>
        </p:spPr>
        <p:txBody>
          <a:bodyPr wrap="square" lIns="0" tIns="0" rIns="0" bIns="0" rtlCol="0" anchor="ctr"/>
          <a:lstStyle/>
          <a:p>
            <a:pPr indent="0" marL="0">
              <a:buNone/>
            </a:pPr>
            <a:r>
              <a:rPr lang="en-US" sz="6000" b="1" dirty="0">
                <a:solidFill>
                  <a:srgbClr val="EDA100"/>
                </a:solidFill>
                <a:latin typeface="Cambria" pitchFamily="34" charset="0"/>
                <a:ea typeface="Cambria" pitchFamily="34" charset="-122"/>
                <a:cs typeface="Cambria" pitchFamily="34" charset="-120"/>
              </a:rPr>
              <a:t>?</a:t>
            </a:r>
            <a:endParaRPr lang="en-US" sz="6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731520" y="1097280"/>
            <a:ext cx="10698480" cy="146304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Bits of evidence: the free energy of an explanation</a:t>
            </a:r>
            <a:endParaRPr lang="en-US" sz="4400" dirty="0"/>
          </a:p>
        </p:txBody>
      </p:sp>
      <p:sp>
        <p:nvSpPr>
          <p:cNvPr id="3" name="Text 0"/>
          <p:cNvSpPr/>
          <p:nvPr>
            <p:ph idx="101" type="body" hasCustomPrompt="1"/>
          </p:nvPr>
        </p:nvSpPr>
        <p:spPr>
          <a:xfrm>
            <a:off x="731520" y="2743200"/>
            <a:ext cx="10058400" cy="1005840"/>
          </a:xfrm>
          <a:prstGeom prst="rect">
            <a:avLst/>
          </a:prstGeom>
          <a:noFill/>
          <a:ln/>
        </p:spPr>
        <p:txBody>
          <a:bodyPr wrap="square" lIns="0" tIns="0" rIns="0" bIns="0" rtlCol="0" anchor="t"/>
          <a:lstStyle/>
          <a:p>
            <a:pPr indent="0" marL="0">
              <a:buNone/>
            </a:pPr>
            <a:r>
              <a:rPr lang="en-US" sz="2200" dirty="0">
                <a:solidFill>
                  <a:schemeClr val="bg2"/>
                </a:solidFill>
                <a:latin typeface="Calibri" pitchFamily="34" charset="0"/>
                <a:ea typeface="Calibri" pitchFamily="34" charset="-122"/>
                <a:cs typeface="Calibri" pitchFamily="34" charset="-120"/>
              </a:rPr>
              <a:t>Scoring interpretability alignments by the code length of counterfactuals, and what singular learning theory says about the complexity term</a:t>
            </a:r>
            <a:endParaRPr lang="en-US" sz="2200" dirty="0"/>
          </a:p>
        </p:txBody>
      </p:sp>
      <p:sp>
        <p:nvSpPr>
          <p:cNvPr id="4" name="speaker"/>
          <p:cNvSpPr txBox="1"/>
          <p:nvPr/>
        </p:nvSpPr>
        <p:spPr>
          <a:xfrm>
            <a:off x="731520" y="4343400"/>
            <a:ext cx="6858000" cy="1188720"/>
          </a:xfrm>
          <a:prstGeom prst="rect">
            <a:avLst/>
          </a:prstGeom>
          <a:noFill/>
          <a:ln/>
        </p:spPr>
        <p:txBody>
          <a:bodyPr wrap="square" lIns="0" tIns="0" rIns="0" bIns="0" rtlCol="0" anchor="t"/>
          <a:lstStyle/>
          <a:p>
            <a:pPr indent="0" marL="0">
              <a:buNone/>
            </a:pPr>
            <a:r>
              <a:rPr lang="en-US" sz="2200" b="1" dirty="0">
                <a:solidFill>
                  <a:schemeClr val="bg1"/>
                </a:solidFill>
              </a:rPr>
              <a:t>Sven Heydenreich</a:t>
            </a:r>
            <a:endParaRPr lang="en-US" sz="2200" dirty="0"/>
          </a:p>
          <a:p>
            <a:pPr indent="0" marL="0">
              <a:buNone/>
            </a:pPr>
            <a:r>
              <a:rPr lang="en-US" sz="1700" dirty="0">
                <a:solidFill>
                  <a:schemeClr val="bg2"/>
                </a:solidFill>
              </a:rPr>
              <a:t>Postdoc, Laboratory of Data Engineering, AREA Science Park</a:t>
            </a:r>
            <a:endParaRPr lang="en-US" sz="2200" dirty="0"/>
          </a:p>
          <a:p>
            <a:pPr indent="0" marL="0">
              <a:buNone/>
            </a:pPr>
            <a:r>
              <a:rPr lang="en-US" sz="1700" dirty="0">
                <a:solidFill>
                  <a:srgbClr val="8C93A3"/>
                </a:solidFill>
              </a:rPr>
              <a:t>[email]   ·   [website]</a:t>
            </a:r>
            <a:endParaRPr lang="en-US" sz="2200" dirty="0"/>
          </a:p>
        </p:txBody>
      </p:sp>
      <p:sp>
        <p:nvSpPr>
          <p:cNvPr id="5" name="Text 3"/>
          <p:cNvSpPr txBox="1"/>
          <p:nvPr/>
        </p:nvSpPr>
        <p:spPr>
          <a:xfrm>
            <a:off x="731520" y="5989320"/>
            <a:ext cx="7315200" cy="365760"/>
          </a:xfrm>
          <a:prstGeom prst="rect">
            <a:avLst/>
          </a:prstGeom>
          <a:noFill/>
          <a:ln/>
        </p:spPr>
        <p:txBody>
          <a:bodyPr wrap="square" lIns="0" tIns="0" rIns="0" bIns="0" rtlCol="0" anchor="ctr"/>
          <a:lstStyle/>
          <a:p>
            <a:pPr indent="0" marL="0">
              <a:buNone/>
            </a:pPr>
            <a:r>
              <a:rPr lang="en-US" sz="1400" dirty="0">
                <a:solidFill>
                  <a:srgbClr val="8C93A3"/>
                </a:solidFill>
              </a:rPr>
              <a:t>Singular Learning Theory days  ·  October 2026</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Causal abstraction: swap the variable, check the output</a:t>
            </a:r>
            <a:endParaRPr lang="en-US" sz="2800" dirty="0"/>
          </a:p>
        </p:txBody>
      </p:sp>
      <p:sp>
        <p:nvSpPr>
          <p:cNvPr id="3" name="sentence tag"/>
          <p:cNvSpPr txBox="1"/>
          <p:nvPr/>
        </p:nvSpPr>
        <p:spPr>
          <a:xfrm>
            <a:off x="457200" y="1463040"/>
            <a:ext cx="3474720" cy="274320"/>
          </a:xfrm>
          <a:prstGeom prst="rect">
            <a:avLst/>
          </a:prstGeom>
          <a:noFill/>
          <a:ln/>
        </p:spPr>
        <p:txBody>
          <a:bodyPr wrap="square" lIns="0" tIns="0" rIns="0" bIns="0" rtlCol="0" anchor="ctr"/>
          <a:lstStyle/>
          <a:p>
            <a:pPr indent="0" marL="0">
              <a:buNone/>
            </a:pPr>
            <a:r>
              <a:rPr lang="en-US" sz="1300" b="1" dirty="0">
                <a:solidFill>
                  <a:srgbClr val="B2182B"/>
                </a:solidFill>
              </a:rPr>
              <a:t>base  ·  ABAB</a:t>
            </a:r>
            <a:endParaRPr lang="en-US" sz="1300" dirty="0"/>
          </a:p>
        </p:txBody>
      </p:sp>
      <p:sp>
        <p:nvSpPr>
          <p:cNvPr id="4" name="sentence"/>
          <p:cNvSpPr txBox="1"/>
          <p:nvPr/>
        </p:nvSpPr>
        <p:spPr>
          <a:xfrm>
            <a:off x="457200" y="1783080"/>
            <a:ext cx="3520440" cy="1097280"/>
          </a:xfrm>
          <a:prstGeom prst="rect">
            <a:avLst/>
          </a:prstGeom>
          <a:noFill/>
          <a:ln/>
        </p:spPr>
        <p:txBody>
          <a:bodyPr wrap="square" lIns="0" tIns="0" rIns="0" bIns="0" rtlCol="0" anchor="ctr"/>
          <a:lstStyle/>
          <a:p>
            <a:pPr indent="0" marL="0">
              <a:buNone/>
            </a:pPr>
            <a:r>
              <a:rPr lang="en-US" sz="1700" dirty="0">
                <a:solidFill>
                  <a:schemeClr val="tx1"/>
                </a:solidFill>
              </a:rPr>
              <a:t>When Mary and </a:t>
            </a:r>
            <a:r>
              <a:rPr lang="en-US" sz="1700" b="1" dirty="0">
                <a:solidFill>
                  <a:srgbClr val="B2182B"/>
                </a:solidFill>
              </a:rPr>
              <a:t>John</a:t>
            </a:r>
            <a:r>
              <a:rPr lang="en-US" sz="1700" dirty="0">
                <a:solidFill>
                  <a:schemeClr val="tx1"/>
                </a:solidFill>
              </a:rPr>
              <a:t> went to the store,</a:t>
            </a:r>
            <a:endParaRPr lang="en-US" sz="1700" dirty="0"/>
          </a:p>
          <a:p>
            <a:pPr indent="0" marL="0">
              <a:buNone/>
            </a:pPr>
            <a:r>
              <a:rPr lang="en-US" sz="1700" dirty="0">
                <a:solidFill>
                  <a:schemeClr val="tx1"/>
                </a:solidFill>
              </a:rPr>
              <a:t>Mary gave a drink to …</a:t>
            </a:r>
            <a:endParaRPr lang="en-US" sz="1700" dirty="0"/>
          </a:p>
        </p:txBody>
      </p:sp>
      <p:sp>
        <p:nvSpPr>
          <p:cNvPr id="5" name="sentence tag"/>
          <p:cNvSpPr txBox="1"/>
          <p:nvPr/>
        </p:nvSpPr>
        <p:spPr>
          <a:xfrm>
            <a:off x="457200" y="3703320"/>
            <a:ext cx="3474720" cy="274320"/>
          </a:xfrm>
          <a:prstGeom prst="rect">
            <a:avLst/>
          </a:prstGeom>
          <a:noFill/>
          <a:ln/>
        </p:spPr>
        <p:txBody>
          <a:bodyPr wrap="square" lIns="0" tIns="0" rIns="0" bIns="0" rtlCol="0" anchor="ctr"/>
          <a:lstStyle/>
          <a:p>
            <a:pPr indent="0" marL="0">
              <a:buNone/>
            </a:pPr>
            <a:r>
              <a:rPr lang="en-US" sz="1300" b="1" dirty="0">
                <a:solidFill>
                  <a:srgbClr val="1B7837"/>
                </a:solidFill>
              </a:rPr>
              <a:t>source  ·  ABBA</a:t>
            </a:r>
            <a:endParaRPr lang="en-US" sz="1300" dirty="0"/>
          </a:p>
        </p:txBody>
      </p:sp>
      <p:sp>
        <p:nvSpPr>
          <p:cNvPr id="6" name="sentence"/>
          <p:cNvSpPr txBox="1"/>
          <p:nvPr/>
        </p:nvSpPr>
        <p:spPr>
          <a:xfrm>
            <a:off x="457200" y="4023360"/>
            <a:ext cx="3520440" cy="1097280"/>
          </a:xfrm>
          <a:prstGeom prst="rect">
            <a:avLst/>
          </a:prstGeom>
          <a:noFill/>
          <a:ln/>
        </p:spPr>
        <p:txBody>
          <a:bodyPr wrap="square" lIns="0" tIns="0" rIns="0" bIns="0" rtlCol="0" anchor="ctr"/>
          <a:lstStyle/>
          <a:p>
            <a:pPr indent="0" marL="0">
              <a:buNone/>
            </a:pPr>
            <a:r>
              <a:rPr lang="en-US" sz="1700" dirty="0">
                <a:solidFill>
                  <a:schemeClr val="tx1"/>
                </a:solidFill>
              </a:rPr>
              <a:t>When </a:t>
            </a:r>
            <a:r>
              <a:rPr lang="en-US" sz="1700" b="1" dirty="0">
                <a:solidFill>
                  <a:srgbClr val="1B7837"/>
                </a:solidFill>
              </a:rPr>
              <a:t>Anna</a:t>
            </a:r>
            <a:r>
              <a:rPr lang="en-US" sz="1700" dirty="0">
                <a:solidFill>
                  <a:schemeClr val="tx1"/>
                </a:solidFill>
              </a:rPr>
              <a:t> and Tom went to the park,</a:t>
            </a:r>
            <a:endParaRPr lang="en-US" sz="1700" dirty="0"/>
          </a:p>
          <a:p>
            <a:pPr indent="0" marL="0">
              <a:buNone/>
            </a:pPr>
            <a:r>
              <a:rPr lang="en-US" sz="1700" dirty="0">
                <a:solidFill>
                  <a:schemeClr val="tx1"/>
                </a:solidFill>
              </a:rPr>
              <a:t>Tom gave a book to …</a:t>
            </a:r>
            <a:endParaRPr lang="en-US" sz="1700" dirty="0"/>
          </a:p>
        </p:txBody>
      </p:sp>
      <p:sp>
        <p:nvSpPr>
          <p:cNvPr id="7" name="arrow"/>
          <p:cNvSpPr/>
          <p:nvPr/>
        </p:nvSpPr>
        <p:spPr>
          <a:xfrm>
            <a:off x="4023360" y="2331720"/>
            <a:ext cx="502920" cy="0"/>
          </a:xfrm>
          <a:prstGeom prst="line">
            <a:avLst/>
          </a:prstGeom>
          <a:noFill/>
          <a:ln w="22225">
            <a:solidFill>
              <a:srgbClr val="52514E"/>
            </a:solidFill>
            <a:prstDash val="solid"/>
            <a:tailEnd type="triangle"/>
          </a:ln>
        </p:spPr>
      </p:sp>
      <p:sp>
        <p:nvSpPr>
          <p:cNvPr id="8" name="hidden state cell 1"/>
          <p:cNvSpPr/>
          <p:nvPr/>
        </p:nvSpPr>
        <p:spPr>
          <a:xfrm>
            <a:off x="4572000" y="1417320"/>
            <a:ext cx="228600" cy="228600"/>
          </a:xfrm>
          <a:prstGeom prst="rect">
            <a:avLst/>
          </a:prstGeom>
          <a:solidFill>
            <a:srgbClr val="6E5A9E"/>
          </a:solidFill>
          <a:ln w="12700">
            <a:solidFill>
              <a:srgbClr val="FFFFFF"/>
            </a:solidFill>
            <a:prstDash val="solid"/>
          </a:ln>
        </p:spPr>
      </p:sp>
      <p:sp>
        <p:nvSpPr>
          <p:cNvPr id="9" name="hidden state cell 2"/>
          <p:cNvSpPr/>
          <p:nvPr/>
        </p:nvSpPr>
        <p:spPr>
          <a:xfrm>
            <a:off x="4572000" y="1645920"/>
            <a:ext cx="228600" cy="228600"/>
          </a:xfrm>
          <a:prstGeom prst="rect">
            <a:avLst/>
          </a:prstGeom>
          <a:solidFill>
            <a:srgbClr val="A39BC9"/>
          </a:solidFill>
          <a:ln w="12700">
            <a:solidFill>
              <a:srgbClr val="FFFFFF"/>
            </a:solidFill>
            <a:prstDash val="solid"/>
          </a:ln>
        </p:spPr>
      </p:sp>
      <p:sp>
        <p:nvSpPr>
          <p:cNvPr id="10" name="hidden state cell 3"/>
          <p:cNvSpPr/>
          <p:nvPr/>
        </p:nvSpPr>
        <p:spPr>
          <a:xfrm>
            <a:off x="4572000" y="1874520"/>
            <a:ext cx="228600" cy="228600"/>
          </a:xfrm>
          <a:prstGeom prst="rect">
            <a:avLst/>
          </a:prstGeom>
          <a:solidFill>
            <a:srgbClr val="6E5A9E"/>
          </a:solidFill>
          <a:ln w="12700">
            <a:solidFill>
              <a:srgbClr val="FFFFFF"/>
            </a:solidFill>
            <a:prstDash val="solid"/>
          </a:ln>
        </p:spPr>
      </p:sp>
      <p:sp>
        <p:nvSpPr>
          <p:cNvPr id="11" name="hidden state cell 4"/>
          <p:cNvSpPr/>
          <p:nvPr/>
        </p:nvSpPr>
        <p:spPr>
          <a:xfrm>
            <a:off x="4572000" y="2103120"/>
            <a:ext cx="228600" cy="228600"/>
          </a:xfrm>
          <a:prstGeom prst="rect">
            <a:avLst/>
          </a:prstGeom>
          <a:solidFill>
            <a:srgbClr val="D9C27A"/>
          </a:solidFill>
          <a:ln w="12700">
            <a:solidFill>
              <a:srgbClr val="FFFFFF"/>
            </a:solidFill>
            <a:prstDash val="solid"/>
          </a:ln>
        </p:spPr>
      </p:sp>
      <p:sp>
        <p:nvSpPr>
          <p:cNvPr id="12" name="hidden state cell 5"/>
          <p:cNvSpPr/>
          <p:nvPr/>
        </p:nvSpPr>
        <p:spPr>
          <a:xfrm>
            <a:off x="4572000" y="2331720"/>
            <a:ext cx="228600" cy="228600"/>
          </a:xfrm>
          <a:prstGeom prst="rect">
            <a:avLst/>
          </a:prstGeom>
          <a:solidFill>
            <a:srgbClr val="A39BC9"/>
          </a:solidFill>
          <a:ln w="12700">
            <a:solidFill>
              <a:srgbClr val="FFFFFF"/>
            </a:solidFill>
            <a:prstDash val="solid"/>
          </a:ln>
        </p:spPr>
      </p:sp>
      <p:sp>
        <p:nvSpPr>
          <p:cNvPr id="13" name="hidden state cell 6"/>
          <p:cNvSpPr/>
          <p:nvPr/>
        </p:nvSpPr>
        <p:spPr>
          <a:xfrm>
            <a:off x="4572000" y="2560320"/>
            <a:ext cx="228600" cy="228600"/>
          </a:xfrm>
          <a:prstGeom prst="rect">
            <a:avLst/>
          </a:prstGeom>
          <a:solidFill>
            <a:srgbClr val="B8A04E"/>
          </a:solidFill>
          <a:ln w="12700">
            <a:solidFill>
              <a:srgbClr val="FFFFFF"/>
            </a:solidFill>
            <a:prstDash val="solid"/>
          </a:ln>
        </p:spPr>
      </p:sp>
      <p:sp>
        <p:nvSpPr>
          <p:cNvPr id="14" name="hidden state cell 7"/>
          <p:cNvSpPr/>
          <p:nvPr/>
        </p:nvSpPr>
        <p:spPr>
          <a:xfrm>
            <a:off x="4572000" y="2788920"/>
            <a:ext cx="228600" cy="228600"/>
          </a:xfrm>
          <a:prstGeom prst="rect">
            <a:avLst/>
          </a:prstGeom>
          <a:solidFill>
            <a:srgbClr val="7FA7C9"/>
          </a:solidFill>
          <a:ln w="12700">
            <a:solidFill>
              <a:srgbClr val="FFFFFF"/>
            </a:solidFill>
            <a:prstDash val="solid"/>
          </a:ln>
        </p:spPr>
      </p:sp>
      <p:sp>
        <p:nvSpPr>
          <p:cNvPr id="15" name="hidden state cell 8"/>
          <p:cNvSpPr/>
          <p:nvPr/>
        </p:nvSpPr>
        <p:spPr>
          <a:xfrm>
            <a:off x="4572000" y="3017520"/>
            <a:ext cx="228600" cy="228600"/>
          </a:xfrm>
          <a:prstGeom prst="rect">
            <a:avLst/>
          </a:prstGeom>
          <a:solidFill>
            <a:srgbClr val="C7CEE6"/>
          </a:solidFill>
          <a:ln w="12700">
            <a:solidFill>
              <a:srgbClr val="FFFFFF"/>
            </a:solidFill>
            <a:prstDash val="solid"/>
          </a:ln>
        </p:spPr>
      </p:sp>
      <p:sp>
        <p:nvSpPr>
          <p:cNvPr id="16" name="arrow"/>
          <p:cNvSpPr/>
          <p:nvPr/>
        </p:nvSpPr>
        <p:spPr>
          <a:xfrm>
            <a:off x="4023360" y="4572000"/>
            <a:ext cx="502920" cy="0"/>
          </a:xfrm>
          <a:prstGeom prst="line">
            <a:avLst/>
          </a:prstGeom>
          <a:noFill/>
          <a:ln w="22225">
            <a:solidFill>
              <a:srgbClr val="52514E"/>
            </a:solidFill>
            <a:prstDash val="solid"/>
            <a:tailEnd type="triangle"/>
          </a:ln>
        </p:spPr>
      </p:sp>
      <p:sp>
        <p:nvSpPr>
          <p:cNvPr id="17" name="hidden state cell 1"/>
          <p:cNvSpPr/>
          <p:nvPr/>
        </p:nvSpPr>
        <p:spPr>
          <a:xfrm>
            <a:off x="4572000" y="3657600"/>
            <a:ext cx="228600" cy="228600"/>
          </a:xfrm>
          <a:prstGeom prst="rect">
            <a:avLst/>
          </a:prstGeom>
          <a:solidFill>
            <a:srgbClr val="C9B8DD"/>
          </a:solidFill>
          <a:ln w="12700">
            <a:solidFill>
              <a:srgbClr val="FFFFFF"/>
            </a:solidFill>
            <a:prstDash val="solid"/>
          </a:ln>
        </p:spPr>
      </p:sp>
      <p:sp>
        <p:nvSpPr>
          <p:cNvPr id="18" name="hidden state cell 2"/>
          <p:cNvSpPr/>
          <p:nvPr/>
        </p:nvSpPr>
        <p:spPr>
          <a:xfrm>
            <a:off x="4572000" y="3886200"/>
            <a:ext cx="228600" cy="228600"/>
          </a:xfrm>
          <a:prstGeom prst="rect">
            <a:avLst/>
          </a:prstGeom>
          <a:solidFill>
            <a:srgbClr val="D9C27A"/>
          </a:solidFill>
          <a:ln w="12700">
            <a:solidFill>
              <a:srgbClr val="FFFFFF"/>
            </a:solidFill>
            <a:prstDash val="solid"/>
          </a:ln>
        </p:spPr>
      </p:sp>
      <p:sp>
        <p:nvSpPr>
          <p:cNvPr id="19" name="hidden state cell 3"/>
          <p:cNvSpPr/>
          <p:nvPr/>
        </p:nvSpPr>
        <p:spPr>
          <a:xfrm>
            <a:off x="4572000" y="4114800"/>
            <a:ext cx="228600" cy="228600"/>
          </a:xfrm>
          <a:prstGeom prst="rect">
            <a:avLst/>
          </a:prstGeom>
          <a:solidFill>
            <a:srgbClr val="C9B8DD"/>
          </a:solidFill>
          <a:ln w="12700">
            <a:solidFill>
              <a:srgbClr val="FFFFFF"/>
            </a:solidFill>
            <a:prstDash val="solid"/>
          </a:ln>
        </p:spPr>
      </p:sp>
      <p:sp>
        <p:nvSpPr>
          <p:cNvPr id="20" name="hidden state cell 4"/>
          <p:cNvSpPr/>
          <p:nvPr/>
        </p:nvSpPr>
        <p:spPr>
          <a:xfrm>
            <a:off x="4572000" y="4343400"/>
            <a:ext cx="228600" cy="228600"/>
          </a:xfrm>
          <a:prstGeom prst="rect">
            <a:avLst/>
          </a:prstGeom>
          <a:solidFill>
            <a:srgbClr val="7FA7C9"/>
          </a:solidFill>
          <a:ln w="12700">
            <a:solidFill>
              <a:srgbClr val="FFFFFF"/>
            </a:solidFill>
            <a:prstDash val="solid"/>
          </a:ln>
        </p:spPr>
      </p:sp>
      <p:sp>
        <p:nvSpPr>
          <p:cNvPr id="21" name="hidden state cell 5"/>
          <p:cNvSpPr/>
          <p:nvPr/>
        </p:nvSpPr>
        <p:spPr>
          <a:xfrm>
            <a:off x="4572000" y="4572000"/>
            <a:ext cx="228600" cy="228600"/>
          </a:xfrm>
          <a:prstGeom prst="rect">
            <a:avLst/>
          </a:prstGeom>
          <a:solidFill>
            <a:srgbClr val="7FA7C9"/>
          </a:solidFill>
          <a:ln w="12700">
            <a:solidFill>
              <a:srgbClr val="FFFFFF"/>
            </a:solidFill>
            <a:prstDash val="solid"/>
          </a:ln>
        </p:spPr>
      </p:sp>
      <p:sp>
        <p:nvSpPr>
          <p:cNvPr id="22" name="hidden state cell 6"/>
          <p:cNvSpPr/>
          <p:nvPr/>
        </p:nvSpPr>
        <p:spPr>
          <a:xfrm>
            <a:off x="4572000" y="4800600"/>
            <a:ext cx="228600" cy="228600"/>
          </a:xfrm>
          <a:prstGeom prst="rect">
            <a:avLst/>
          </a:prstGeom>
          <a:solidFill>
            <a:srgbClr val="B8A04E"/>
          </a:solidFill>
          <a:ln w="12700">
            <a:solidFill>
              <a:srgbClr val="FFFFFF"/>
            </a:solidFill>
            <a:prstDash val="solid"/>
          </a:ln>
        </p:spPr>
      </p:sp>
      <p:sp>
        <p:nvSpPr>
          <p:cNvPr id="23" name="hidden state cell 7"/>
          <p:cNvSpPr/>
          <p:nvPr/>
        </p:nvSpPr>
        <p:spPr>
          <a:xfrm>
            <a:off x="4572000" y="5029200"/>
            <a:ext cx="228600" cy="228600"/>
          </a:xfrm>
          <a:prstGeom prst="rect">
            <a:avLst/>
          </a:prstGeom>
          <a:solidFill>
            <a:srgbClr val="B8A04E"/>
          </a:solidFill>
          <a:ln w="12700">
            <a:solidFill>
              <a:srgbClr val="FFFFFF"/>
            </a:solidFill>
            <a:prstDash val="solid"/>
          </a:ln>
        </p:spPr>
      </p:sp>
      <p:sp>
        <p:nvSpPr>
          <p:cNvPr id="24" name="hidden state cell 8"/>
          <p:cNvSpPr/>
          <p:nvPr/>
        </p:nvSpPr>
        <p:spPr>
          <a:xfrm>
            <a:off x="4572000" y="5257800"/>
            <a:ext cx="228600" cy="228600"/>
          </a:xfrm>
          <a:prstGeom prst="rect">
            <a:avLst/>
          </a:prstGeom>
          <a:solidFill>
            <a:srgbClr val="4E7FA8"/>
          </a:solidFill>
          <a:ln w="12700">
            <a:solidFill>
              <a:srgbClr val="FFFFFF"/>
            </a:solidFill>
            <a:prstDash val="solid"/>
          </a:ln>
        </p:spPr>
      </p:sp>
      <p:sp>
        <p:nvSpPr>
          <p:cNvPr id="25" name="Text 23"/>
          <p:cNvSpPr txBox="1"/>
          <p:nvPr/>
        </p:nvSpPr>
        <p:spPr>
          <a:xfrm>
            <a:off x="3931920" y="1069848"/>
            <a:ext cx="1371600" cy="274320"/>
          </a:xfrm>
          <a:prstGeom prst="rect">
            <a:avLst/>
          </a:prstGeom>
          <a:noFill/>
          <a:ln/>
        </p:spPr>
        <p:txBody>
          <a:bodyPr wrap="square" lIns="0" tIns="0" rIns="0" bIns="0" rtlCol="0" anchor="ctr"/>
          <a:lstStyle/>
          <a:p>
            <a:pPr algn="ctr" indent="0" marL="0">
              <a:buNone/>
            </a:pPr>
            <a:r>
              <a:rPr lang="en-US" sz="1200" dirty="0">
                <a:solidFill>
                  <a:schemeClr val="tx2"/>
                </a:solidFill>
              </a:rPr>
              <a:t>GPT-2, layer ℓ</a:t>
            </a:r>
            <a:endParaRPr lang="en-US" sz="1200" dirty="0"/>
          </a:p>
        </p:txBody>
      </p:sp>
      <p:sp>
        <p:nvSpPr>
          <p:cNvPr id="26" name="arrow"/>
          <p:cNvSpPr/>
          <p:nvPr/>
        </p:nvSpPr>
        <p:spPr>
          <a:xfrm>
            <a:off x="4846320" y="2331720"/>
            <a:ext cx="1280160" cy="0"/>
          </a:xfrm>
          <a:prstGeom prst="line">
            <a:avLst/>
          </a:prstGeom>
          <a:noFill/>
          <a:ln w="22225">
            <a:solidFill>
              <a:srgbClr val="52514E"/>
            </a:solidFill>
            <a:prstDash val="solid"/>
            <a:tailEnd type="triangle"/>
          </a:ln>
        </p:spPr>
      </p:sp>
      <p:sp>
        <p:nvSpPr>
          <p:cNvPr id="27" name="alignment map φ"/>
          <p:cNvSpPr/>
          <p:nvPr/>
        </p:nvSpPr>
        <p:spPr>
          <a:xfrm>
            <a:off x="5166360" y="2112264"/>
            <a:ext cx="640080" cy="438912"/>
          </a:xfrm>
          <a:prstGeom prst="roundRect">
            <a:avLst>
              <a:gd name="adj" fmla="val 20833"/>
            </a:avLst>
          </a:prstGeom>
          <a:solidFill>
            <a:srgbClr val="2A78D6"/>
          </a:solidFill>
          <a:ln>
            <a:solidFill>
              <a:srgbClr val="2A78D6"/>
            </a:solidFill>
          </a:ln>
        </p:spPr>
        <p:txBody>
          <a:bodyPr wrap="square" lIns="0" tIns="0" rIns="0" bIns="0" rtlCol="0" anchor="ctr"/>
          <a:lstStyle/>
          <a:p>
            <a:pPr algn="ctr" indent="0" marL="0">
              <a:buNone/>
            </a:pPr>
            <a:r>
              <a:rPr lang="en-US" sz="2000" b="1" i="1" dirty="0">
                <a:solidFill>
                  <a:schemeClr val="bg1"/>
                </a:solidFill>
                <a:latin typeface="Cambria" pitchFamily="34" charset="0"/>
                <a:ea typeface="Cambria" pitchFamily="34" charset="-122"/>
                <a:cs typeface="Cambria" pitchFamily="34" charset="-120"/>
              </a:rPr>
              <a:t>φ</a:t>
            </a:r>
            <a:endParaRPr lang="en-US" sz="2000" dirty="0"/>
          </a:p>
        </p:txBody>
      </p:sp>
      <p:sp>
        <p:nvSpPr>
          <p:cNvPr id="28" name="aligned state cell 1"/>
          <p:cNvSpPr/>
          <p:nvPr/>
        </p:nvSpPr>
        <p:spPr>
          <a:xfrm>
            <a:off x="6172200" y="1417320"/>
            <a:ext cx="228600" cy="228600"/>
          </a:xfrm>
          <a:prstGeom prst="rect">
            <a:avLst/>
          </a:prstGeom>
          <a:solidFill>
            <a:srgbClr val="B2182B"/>
          </a:solidFill>
          <a:ln w="12700">
            <a:solidFill>
              <a:srgbClr val="FFFFFF"/>
            </a:solidFill>
            <a:prstDash val="solid"/>
          </a:ln>
        </p:spPr>
      </p:sp>
      <p:sp>
        <p:nvSpPr>
          <p:cNvPr id="29" name="aligned state cell 2"/>
          <p:cNvSpPr/>
          <p:nvPr/>
        </p:nvSpPr>
        <p:spPr>
          <a:xfrm>
            <a:off x="6172200" y="1645920"/>
            <a:ext cx="228600" cy="228600"/>
          </a:xfrm>
          <a:prstGeom prst="rect">
            <a:avLst/>
          </a:prstGeom>
          <a:solidFill>
            <a:srgbClr val="B2182B"/>
          </a:solidFill>
          <a:ln w="12700">
            <a:solidFill>
              <a:srgbClr val="FFFFFF"/>
            </a:solidFill>
            <a:prstDash val="solid"/>
          </a:ln>
        </p:spPr>
      </p:sp>
      <p:sp>
        <p:nvSpPr>
          <p:cNvPr id="30" name="aligned state cell 3"/>
          <p:cNvSpPr/>
          <p:nvPr/>
        </p:nvSpPr>
        <p:spPr>
          <a:xfrm>
            <a:off x="6172200" y="1874520"/>
            <a:ext cx="228600" cy="228600"/>
          </a:xfrm>
          <a:prstGeom prst="rect">
            <a:avLst/>
          </a:prstGeom>
          <a:solidFill>
            <a:srgbClr val="B2182B"/>
          </a:solidFill>
          <a:ln w="12700">
            <a:solidFill>
              <a:srgbClr val="FFFFFF"/>
            </a:solidFill>
            <a:prstDash val="solid"/>
          </a:ln>
        </p:spPr>
      </p:sp>
      <p:sp>
        <p:nvSpPr>
          <p:cNvPr id="31" name="aligned state cell 4"/>
          <p:cNvSpPr/>
          <p:nvPr/>
        </p:nvSpPr>
        <p:spPr>
          <a:xfrm>
            <a:off x="6172200" y="2103120"/>
            <a:ext cx="228600" cy="228600"/>
          </a:xfrm>
          <a:prstGeom prst="rect">
            <a:avLst/>
          </a:prstGeom>
          <a:solidFill>
            <a:srgbClr val="B2182B"/>
          </a:solidFill>
          <a:ln w="12700">
            <a:solidFill>
              <a:srgbClr val="FFFFFF"/>
            </a:solidFill>
            <a:prstDash val="solid"/>
          </a:ln>
        </p:spPr>
      </p:sp>
      <p:sp>
        <p:nvSpPr>
          <p:cNvPr id="32" name="aligned state cell 5"/>
          <p:cNvSpPr/>
          <p:nvPr/>
        </p:nvSpPr>
        <p:spPr>
          <a:xfrm>
            <a:off x="6172200" y="2331720"/>
            <a:ext cx="228600" cy="228600"/>
          </a:xfrm>
          <a:prstGeom prst="rect">
            <a:avLst/>
          </a:prstGeom>
          <a:solidFill>
            <a:srgbClr val="F6C4C4"/>
          </a:solidFill>
          <a:ln w="12700">
            <a:solidFill>
              <a:srgbClr val="FFFFFF"/>
            </a:solidFill>
            <a:prstDash val="solid"/>
          </a:ln>
        </p:spPr>
      </p:sp>
      <p:sp>
        <p:nvSpPr>
          <p:cNvPr id="33" name="aligned state cell 6"/>
          <p:cNvSpPr/>
          <p:nvPr/>
        </p:nvSpPr>
        <p:spPr>
          <a:xfrm>
            <a:off x="6172200" y="2560320"/>
            <a:ext cx="228600" cy="228600"/>
          </a:xfrm>
          <a:prstGeom prst="rect">
            <a:avLst/>
          </a:prstGeom>
          <a:solidFill>
            <a:srgbClr val="F6C4C4"/>
          </a:solidFill>
          <a:ln w="12700">
            <a:solidFill>
              <a:srgbClr val="FFFFFF"/>
            </a:solidFill>
            <a:prstDash val="solid"/>
          </a:ln>
        </p:spPr>
      </p:sp>
      <p:sp>
        <p:nvSpPr>
          <p:cNvPr id="34" name="aligned state cell 7"/>
          <p:cNvSpPr/>
          <p:nvPr/>
        </p:nvSpPr>
        <p:spPr>
          <a:xfrm>
            <a:off x="6172200" y="2788920"/>
            <a:ext cx="228600" cy="228600"/>
          </a:xfrm>
          <a:prstGeom prst="rect">
            <a:avLst/>
          </a:prstGeom>
          <a:solidFill>
            <a:srgbClr val="F6C4C4"/>
          </a:solidFill>
          <a:ln w="12700">
            <a:solidFill>
              <a:srgbClr val="FFFFFF"/>
            </a:solidFill>
            <a:prstDash val="solid"/>
          </a:ln>
        </p:spPr>
      </p:sp>
      <p:sp>
        <p:nvSpPr>
          <p:cNvPr id="35" name="aligned state cell 8"/>
          <p:cNvSpPr/>
          <p:nvPr/>
        </p:nvSpPr>
        <p:spPr>
          <a:xfrm>
            <a:off x="6172200" y="3017520"/>
            <a:ext cx="228600" cy="228600"/>
          </a:xfrm>
          <a:prstGeom prst="rect">
            <a:avLst/>
          </a:prstGeom>
          <a:solidFill>
            <a:srgbClr val="F6C4C4"/>
          </a:solidFill>
          <a:ln w="12700">
            <a:solidFill>
              <a:srgbClr val="FFFFFF"/>
            </a:solidFill>
            <a:prstDash val="solid"/>
          </a:ln>
        </p:spPr>
      </p:sp>
      <p:sp>
        <p:nvSpPr>
          <p:cNvPr id="36" name="arrow"/>
          <p:cNvSpPr/>
          <p:nvPr/>
        </p:nvSpPr>
        <p:spPr>
          <a:xfrm>
            <a:off x="4846320" y="4572000"/>
            <a:ext cx="1280160" cy="0"/>
          </a:xfrm>
          <a:prstGeom prst="line">
            <a:avLst/>
          </a:prstGeom>
          <a:noFill/>
          <a:ln w="22225">
            <a:solidFill>
              <a:srgbClr val="52514E"/>
            </a:solidFill>
            <a:prstDash val="solid"/>
            <a:tailEnd type="triangle"/>
          </a:ln>
        </p:spPr>
      </p:sp>
      <p:sp>
        <p:nvSpPr>
          <p:cNvPr id="37" name="alignment map φ"/>
          <p:cNvSpPr/>
          <p:nvPr/>
        </p:nvSpPr>
        <p:spPr>
          <a:xfrm>
            <a:off x="5166360" y="4352544"/>
            <a:ext cx="640080" cy="438912"/>
          </a:xfrm>
          <a:prstGeom prst="roundRect">
            <a:avLst>
              <a:gd name="adj" fmla="val 20833"/>
            </a:avLst>
          </a:prstGeom>
          <a:solidFill>
            <a:srgbClr val="2A78D6"/>
          </a:solidFill>
          <a:ln>
            <a:solidFill>
              <a:srgbClr val="2A78D6"/>
            </a:solidFill>
          </a:ln>
        </p:spPr>
        <p:txBody>
          <a:bodyPr wrap="square" lIns="0" tIns="0" rIns="0" bIns="0" rtlCol="0" anchor="ctr"/>
          <a:lstStyle/>
          <a:p>
            <a:pPr algn="ctr" indent="0" marL="0">
              <a:buNone/>
            </a:pPr>
            <a:r>
              <a:rPr lang="en-US" sz="2000" b="1" i="1" dirty="0">
                <a:solidFill>
                  <a:schemeClr val="bg1"/>
                </a:solidFill>
                <a:latin typeface="Cambria" pitchFamily="34" charset="0"/>
                <a:ea typeface="Cambria" pitchFamily="34" charset="-122"/>
                <a:cs typeface="Cambria" pitchFamily="34" charset="-120"/>
              </a:rPr>
              <a:t>φ</a:t>
            </a:r>
            <a:endParaRPr lang="en-US" sz="2000" dirty="0"/>
          </a:p>
        </p:txBody>
      </p:sp>
      <p:sp>
        <p:nvSpPr>
          <p:cNvPr id="38" name="aligned state cell 1"/>
          <p:cNvSpPr/>
          <p:nvPr/>
        </p:nvSpPr>
        <p:spPr>
          <a:xfrm>
            <a:off x="6172200" y="3657600"/>
            <a:ext cx="228600" cy="228600"/>
          </a:xfrm>
          <a:prstGeom prst="rect">
            <a:avLst/>
          </a:prstGeom>
          <a:solidFill>
            <a:srgbClr val="1B7837"/>
          </a:solidFill>
          <a:ln w="12700">
            <a:solidFill>
              <a:srgbClr val="FFFFFF"/>
            </a:solidFill>
            <a:prstDash val="solid"/>
          </a:ln>
        </p:spPr>
      </p:sp>
      <p:sp>
        <p:nvSpPr>
          <p:cNvPr id="39" name="aligned state cell 2"/>
          <p:cNvSpPr/>
          <p:nvPr/>
        </p:nvSpPr>
        <p:spPr>
          <a:xfrm>
            <a:off x="6172200" y="3886200"/>
            <a:ext cx="228600" cy="228600"/>
          </a:xfrm>
          <a:prstGeom prst="rect">
            <a:avLst/>
          </a:prstGeom>
          <a:solidFill>
            <a:srgbClr val="1B7837"/>
          </a:solidFill>
          <a:ln w="12700">
            <a:solidFill>
              <a:srgbClr val="FFFFFF"/>
            </a:solidFill>
            <a:prstDash val="solid"/>
          </a:ln>
        </p:spPr>
      </p:sp>
      <p:sp>
        <p:nvSpPr>
          <p:cNvPr id="40" name="aligned state cell 3"/>
          <p:cNvSpPr/>
          <p:nvPr/>
        </p:nvSpPr>
        <p:spPr>
          <a:xfrm>
            <a:off x="6172200" y="4114800"/>
            <a:ext cx="228600" cy="228600"/>
          </a:xfrm>
          <a:prstGeom prst="rect">
            <a:avLst/>
          </a:prstGeom>
          <a:solidFill>
            <a:srgbClr val="1B7837"/>
          </a:solidFill>
          <a:ln w="12700">
            <a:solidFill>
              <a:srgbClr val="FFFFFF"/>
            </a:solidFill>
            <a:prstDash val="solid"/>
          </a:ln>
        </p:spPr>
      </p:sp>
      <p:sp>
        <p:nvSpPr>
          <p:cNvPr id="41" name="aligned state cell 4"/>
          <p:cNvSpPr/>
          <p:nvPr/>
        </p:nvSpPr>
        <p:spPr>
          <a:xfrm>
            <a:off x="6172200" y="4343400"/>
            <a:ext cx="228600" cy="228600"/>
          </a:xfrm>
          <a:prstGeom prst="rect">
            <a:avLst/>
          </a:prstGeom>
          <a:solidFill>
            <a:srgbClr val="1B7837"/>
          </a:solidFill>
          <a:ln w="12700">
            <a:solidFill>
              <a:srgbClr val="FFFFFF"/>
            </a:solidFill>
            <a:prstDash val="solid"/>
          </a:ln>
        </p:spPr>
      </p:sp>
      <p:sp>
        <p:nvSpPr>
          <p:cNvPr id="42" name="aligned state cell 5"/>
          <p:cNvSpPr/>
          <p:nvPr/>
        </p:nvSpPr>
        <p:spPr>
          <a:xfrm>
            <a:off x="6172200" y="4572000"/>
            <a:ext cx="228600" cy="228600"/>
          </a:xfrm>
          <a:prstGeom prst="rect">
            <a:avLst/>
          </a:prstGeom>
          <a:solidFill>
            <a:srgbClr val="C3E6C4"/>
          </a:solidFill>
          <a:ln w="12700">
            <a:solidFill>
              <a:srgbClr val="FFFFFF"/>
            </a:solidFill>
            <a:prstDash val="solid"/>
          </a:ln>
        </p:spPr>
      </p:sp>
      <p:sp>
        <p:nvSpPr>
          <p:cNvPr id="43" name="aligned state cell 6"/>
          <p:cNvSpPr/>
          <p:nvPr/>
        </p:nvSpPr>
        <p:spPr>
          <a:xfrm>
            <a:off x="6172200" y="4800600"/>
            <a:ext cx="228600" cy="228600"/>
          </a:xfrm>
          <a:prstGeom prst="rect">
            <a:avLst/>
          </a:prstGeom>
          <a:solidFill>
            <a:srgbClr val="C3E6C4"/>
          </a:solidFill>
          <a:ln w="12700">
            <a:solidFill>
              <a:srgbClr val="FFFFFF"/>
            </a:solidFill>
            <a:prstDash val="solid"/>
          </a:ln>
        </p:spPr>
      </p:sp>
      <p:sp>
        <p:nvSpPr>
          <p:cNvPr id="44" name="aligned state cell 7"/>
          <p:cNvSpPr/>
          <p:nvPr/>
        </p:nvSpPr>
        <p:spPr>
          <a:xfrm>
            <a:off x="6172200" y="5029200"/>
            <a:ext cx="228600" cy="228600"/>
          </a:xfrm>
          <a:prstGeom prst="rect">
            <a:avLst/>
          </a:prstGeom>
          <a:solidFill>
            <a:srgbClr val="C3E6C4"/>
          </a:solidFill>
          <a:ln w="12700">
            <a:solidFill>
              <a:srgbClr val="FFFFFF"/>
            </a:solidFill>
            <a:prstDash val="solid"/>
          </a:ln>
        </p:spPr>
      </p:sp>
      <p:sp>
        <p:nvSpPr>
          <p:cNvPr id="45" name="aligned state cell 8"/>
          <p:cNvSpPr/>
          <p:nvPr/>
        </p:nvSpPr>
        <p:spPr>
          <a:xfrm>
            <a:off x="6172200" y="5257800"/>
            <a:ext cx="228600" cy="228600"/>
          </a:xfrm>
          <a:prstGeom prst="rect">
            <a:avLst/>
          </a:prstGeom>
          <a:solidFill>
            <a:srgbClr val="C3E6C4"/>
          </a:solidFill>
          <a:ln w="12700">
            <a:solidFill>
              <a:srgbClr val="FFFFFF"/>
            </a:solidFill>
            <a:prstDash val="solid"/>
          </a:ln>
        </p:spPr>
      </p:sp>
      <p:sp>
        <p:nvSpPr>
          <p:cNvPr id="46" name="Text 44"/>
          <p:cNvSpPr txBox="1"/>
          <p:nvPr/>
        </p:nvSpPr>
        <p:spPr>
          <a:xfrm>
            <a:off x="4846320" y="1545336"/>
            <a:ext cx="1280160" cy="502920"/>
          </a:xfrm>
          <a:prstGeom prst="rect">
            <a:avLst/>
          </a:prstGeom>
          <a:noFill/>
          <a:ln/>
        </p:spPr>
        <p:txBody>
          <a:bodyPr wrap="square" lIns="0" tIns="0" rIns="0" bIns="0" rtlCol="0" anchor="b"/>
          <a:lstStyle/>
          <a:p>
            <a:pPr algn="ctr" indent="0" marL="0">
              <a:buNone/>
            </a:pPr>
            <a:r>
              <a:rPr lang="en-US" sz="1200" b="1" dirty="0">
                <a:solidFill>
                  <a:schemeClr val="accent1"/>
                </a:solidFill>
              </a:rPr>
              <a:t>learned</a:t>
            </a:r>
            <a:endParaRPr lang="en-US" sz="1200" dirty="0"/>
          </a:p>
          <a:p>
            <a:pPr algn="ctr" indent="0" marL="0">
              <a:buNone/>
            </a:pPr>
            <a:r>
              <a:rPr lang="en-US" sz="1200" b="1" dirty="0">
                <a:solidFill>
                  <a:schemeClr val="accent1"/>
                </a:solidFill>
              </a:rPr>
              <a:t>alignment map</a:t>
            </a:r>
            <a:endParaRPr lang="en-US" sz="1200" dirty="0"/>
          </a:p>
        </p:txBody>
      </p:sp>
      <p:sp>
        <p:nvSpPr>
          <p:cNvPr id="47" name="arrow"/>
          <p:cNvSpPr/>
          <p:nvPr/>
        </p:nvSpPr>
        <p:spPr>
          <a:xfrm>
            <a:off x="6446520" y="2331720"/>
            <a:ext cx="822960" cy="708660"/>
          </a:xfrm>
          <a:prstGeom prst="line">
            <a:avLst/>
          </a:prstGeom>
          <a:noFill/>
          <a:ln w="22225">
            <a:solidFill>
              <a:srgbClr val="52514E"/>
            </a:solidFill>
            <a:prstDash val="solid"/>
            <a:tailEnd type="triangle"/>
          </a:ln>
        </p:spPr>
      </p:sp>
      <p:sp>
        <p:nvSpPr>
          <p:cNvPr id="48" name="arrow"/>
          <p:cNvSpPr/>
          <p:nvPr/>
        </p:nvSpPr>
        <p:spPr>
          <a:xfrm flipV="1">
            <a:off x="6446520" y="3863340"/>
            <a:ext cx="822960" cy="708660"/>
          </a:xfrm>
          <a:prstGeom prst="line">
            <a:avLst/>
          </a:prstGeom>
          <a:noFill/>
          <a:ln w="22225">
            <a:solidFill>
              <a:srgbClr val="52514E"/>
            </a:solidFill>
            <a:prstDash val="solid"/>
            <a:tailEnd type="triangle"/>
          </a:ln>
        </p:spPr>
      </p:sp>
      <p:sp>
        <p:nvSpPr>
          <p:cNvPr id="49" name="interchanged state cell 1"/>
          <p:cNvSpPr/>
          <p:nvPr/>
        </p:nvSpPr>
        <p:spPr>
          <a:xfrm>
            <a:off x="7315200" y="2537460"/>
            <a:ext cx="228600" cy="228600"/>
          </a:xfrm>
          <a:prstGeom prst="rect">
            <a:avLst/>
          </a:prstGeom>
          <a:solidFill>
            <a:srgbClr val="1B7837"/>
          </a:solidFill>
          <a:ln w="12700">
            <a:solidFill>
              <a:srgbClr val="FFFFFF"/>
            </a:solidFill>
            <a:prstDash val="solid"/>
          </a:ln>
        </p:spPr>
      </p:sp>
      <p:sp>
        <p:nvSpPr>
          <p:cNvPr id="50" name="interchanged state cell 2"/>
          <p:cNvSpPr/>
          <p:nvPr/>
        </p:nvSpPr>
        <p:spPr>
          <a:xfrm>
            <a:off x="7315200" y="2766060"/>
            <a:ext cx="228600" cy="228600"/>
          </a:xfrm>
          <a:prstGeom prst="rect">
            <a:avLst/>
          </a:prstGeom>
          <a:solidFill>
            <a:srgbClr val="1B7837"/>
          </a:solidFill>
          <a:ln w="12700">
            <a:solidFill>
              <a:srgbClr val="FFFFFF"/>
            </a:solidFill>
            <a:prstDash val="solid"/>
          </a:ln>
        </p:spPr>
      </p:sp>
      <p:sp>
        <p:nvSpPr>
          <p:cNvPr id="51" name="interchanged state cell 3"/>
          <p:cNvSpPr/>
          <p:nvPr/>
        </p:nvSpPr>
        <p:spPr>
          <a:xfrm>
            <a:off x="7315200" y="2994660"/>
            <a:ext cx="228600" cy="228600"/>
          </a:xfrm>
          <a:prstGeom prst="rect">
            <a:avLst/>
          </a:prstGeom>
          <a:solidFill>
            <a:srgbClr val="1B7837"/>
          </a:solidFill>
          <a:ln w="12700">
            <a:solidFill>
              <a:srgbClr val="FFFFFF"/>
            </a:solidFill>
            <a:prstDash val="solid"/>
          </a:ln>
        </p:spPr>
      </p:sp>
      <p:sp>
        <p:nvSpPr>
          <p:cNvPr id="52" name="interchanged state cell 4"/>
          <p:cNvSpPr/>
          <p:nvPr/>
        </p:nvSpPr>
        <p:spPr>
          <a:xfrm>
            <a:off x="7315200" y="3223260"/>
            <a:ext cx="228600" cy="228600"/>
          </a:xfrm>
          <a:prstGeom prst="rect">
            <a:avLst/>
          </a:prstGeom>
          <a:solidFill>
            <a:srgbClr val="1B7837"/>
          </a:solidFill>
          <a:ln w="12700">
            <a:solidFill>
              <a:srgbClr val="FFFFFF"/>
            </a:solidFill>
            <a:prstDash val="solid"/>
          </a:ln>
        </p:spPr>
      </p:sp>
      <p:sp>
        <p:nvSpPr>
          <p:cNvPr id="53" name="interchanged state cell 5"/>
          <p:cNvSpPr/>
          <p:nvPr/>
        </p:nvSpPr>
        <p:spPr>
          <a:xfrm>
            <a:off x="7315200" y="3451860"/>
            <a:ext cx="228600" cy="228600"/>
          </a:xfrm>
          <a:prstGeom prst="rect">
            <a:avLst/>
          </a:prstGeom>
          <a:solidFill>
            <a:srgbClr val="F6C4C4"/>
          </a:solidFill>
          <a:ln w="12700">
            <a:solidFill>
              <a:srgbClr val="FFFFFF"/>
            </a:solidFill>
            <a:prstDash val="solid"/>
          </a:ln>
        </p:spPr>
      </p:sp>
      <p:sp>
        <p:nvSpPr>
          <p:cNvPr id="54" name="interchanged state cell 6"/>
          <p:cNvSpPr/>
          <p:nvPr/>
        </p:nvSpPr>
        <p:spPr>
          <a:xfrm>
            <a:off x="7315200" y="3680460"/>
            <a:ext cx="228600" cy="228600"/>
          </a:xfrm>
          <a:prstGeom prst="rect">
            <a:avLst/>
          </a:prstGeom>
          <a:solidFill>
            <a:srgbClr val="F6C4C4"/>
          </a:solidFill>
          <a:ln w="12700">
            <a:solidFill>
              <a:srgbClr val="FFFFFF"/>
            </a:solidFill>
            <a:prstDash val="solid"/>
          </a:ln>
        </p:spPr>
      </p:sp>
      <p:sp>
        <p:nvSpPr>
          <p:cNvPr id="55" name="interchanged state cell 7"/>
          <p:cNvSpPr/>
          <p:nvPr/>
        </p:nvSpPr>
        <p:spPr>
          <a:xfrm>
            <a:off x="7315200" y="3909060"/>
            <a:ext cx="228600" cy="228600"/>
          </a:xfrm>
          <a:prstGeom prst="rect">
            <a:avLst/>
          </a:prstGeom>
          <a:solidFill>
            <a:srgbClr val="F6C4C4"/>
          </a:solidFill>
          <a:ln w="12700">
            <a:solidFill>
              <a:srgbClr val="FFFFFF"/>
            </a:solidFill>
            <a:prstDash val="solid"/>
          </a:ln>
        </p:spPr>
      </p:sp>
      <p:sp>
        <p:nvSpPr>
          <p:cNvPr id="56" name="interchanged state cell 8"/>
          <p:cNvSpPr/>
          <p:nvPr/>
        </p:nvSpPr>
        <p:spPr>
          <a:xfrm>
            <a:off x="7315200" y="4137660"/>
            <a:ext cx="228600" cy="228600"/>
          </a:xfrm>
          <a:prstGeom prst="rect">
            <a:avLst/>
          </a:prstGeom>
          <a:solidFill>
            <a:srgbClr val="F6C4C4"/>
          </a:solidFill>
          <a:ln w="12700">
            <a:solidFill>
              <a:srgbClr val="FFFFFF"/>
            </a:solidFill>
            <a:prstDash val="solid"/>
          </a:ln>
        </p:spPr>
      </p:sp>
      <p:sp>
        <p:nvSpPr>
          <p:cNvPr id="57" name="Text 55"/>
          <p:cNvSpPr txBox="1"/>
          <p:nvPr/>
        </p:nvSpPr>
        <p:spPr>
          <a:xfrm>
            <a:off x="6858000" y="2189988"/>
            <a:ext cx="1143000" cy="274320"/>
          </a:xfrm>
          <a:prstGeom prst="rect">
            <a:avLst/>
          </a:prstGeom>
          <a:noFill/>
          <a:ln/>
        </p:spPr>
        <p:txBody>
          <a:bodyPr wrap="square" lIns="0" tIns="0" rIns="0" bIns="0" rtlCol="0" anchor="ctr"/>
          <a:lstStyle/>
          <a:p>
            <a:pPr algn="ctr" indent="0" marL="0">
              <a:buNone/>
            </a:pPr>
            <a:r>
              <a:rPr lang="en-US" sz="1200" dirty="0">
                <a:solidFill>
                  <a:schemeClr val="tx2"/>
                </a:solidFill>
              </a:rPr>
              <a:t>interchange</a:t>
            </a:r>
            <a:endParaRPr lang="en-US" sz="1200" dirty="0"/>
          </a:p>
        </p:txBody>
      </p:sp>
      <p:sp>
        <p:nvSpPr>
          <p:cNvPr id="58" name="arrow"/>
          <p:cNvSpPr/>
          <p:nvPr/>
        </p:nvSpPr>
        <p:spPr>
          <a:xfrm>
            <a:off x="7589520" y="3451860"/>
            <a:ext cx="1280160" cy="0"/>
          </a:xfrm>
          <a:prstGeom prst="line">
            <a:avLst/>
          </a:prstGeom>
          <a:noFill/>
          <a:ln w="22225">
            <a:solidFill>
              <a:srgbClr val="52514E"/>
            </a:solidFill>
            <a:prstDash val="solid"/>
            <a:tailEnd type="triangle"/>
          </a:ln>
        </p:spPr>
      </p:sp>
      <p:sp>
        <p:nvSpPr>
          <p:cNvPr id="59" name="alignment map φ⁻¹"/>
          <p:cNvSpPr/>
          <p:nvPr/>
        </p:nvSpPr>
        <p:spPr>
          <a:xfrm>
            <a:off x="7909560" y="3232404"/>
            <a:ext cx="640080" cy="438912"/>
          </a:xfrm>
          <a:prstGeom prst="roundRect">
            <a:avLst>
              <a:gd name="adj" fmla="val 20833"/>
            </a:avLst>
          </a:prstGeom>
          <a:solidFill>
            <a:srgbClr val="2A78D6"/>
          </a:solidFill>
          <a:ln>
            <a:solidFill>
              <a:srgbClr val="2A78D6"/>
            </a:solidFill>
          </a:ln>
        </p:spPr>
        <p:txBody>
          <a:bodyPr wrap="square" lIns="0" tIns="0" rIns="0" bIns="0" rtlCol="0" anchor="ctr"/>
          <a:lstStyle/>
          <a:p>
            <a:pPr algn="ctr" indent="0" marL="0">
              <a:buNone/>
            </a:pPr>
            <a:r>
              <a:rPr lang="en-US" sz="2000" b="1" i="1" dirty="0">
                <a:solidFill>
                  <a:schemeClr val="bg1"/>
                </a:solidFill>
                <a:latin typeface="Cambria" pitchFamily="34" charset="0"/>
                <a:ea typeface="Cambria" pitchFamily="34" charset="-122"/>
                <a:cs typeface="Cambria" pitchFamily="34" charset="-120"/>
              </a:rPr>
              <a:t>φ⁻¹</a:t>
            </a:r>
            <a:endParaRPr lang="en-US" sz="2000" dirty="0"/>
          </a:p>
        </p:txBody>
      </p:sp>
      <p:sp>
        <p:nvSpPr>
          <p:cNvPr id="60" name="new hidden state cell 1"/>
          <p:cNvSpPr/>
          <p:nvPr/>
        </p:nvSpPr>
        <p:spPr>
          <a:xfrm>
            <a:off x="8915400" y="2537460"/>
            <a:ext cx="228600" cy="228600"/>
          </a:xfrm>
          <a:prstGeom prst="rect">
            <a:avLst/>
          </a:prstGeom>
          <a:solidFill>
            <a:srgbClr val="E3D9A6"/>
          </a:solidFill>
          <a:ln w="12700">
            <a:solidFill>
              <a:srgbClr val="FFFFFF"/>
            </a:solidFill>
            <a:prstDash val="solid"/>
          </a:ln>
        </p:spPr>
      </p:sp>
      <p:sp>
        <p:nvSpPr>
          <p:cNvPr id="61" name="new hidden state cell 2"/>
          <p:cNvSpPr/>
          <p:nvPr/>
        </p:nvSpPr>
        <p:spPr>
          <a:xfrm>
            <a:off x="8915400" y="2766060"/>
            <a:ext cx="228600" cy="228600"/>
          </a:xfrm>
          <a:prstGeom prst="rect">
            <a:avLst/>
          </a:prstGeom>
          <a:solidFill>
            <a:srgbClr val="6E5A9E"/>
          </a:solidFill>
          <a:ln w="12700">
            <a:solidFill>
              <a:srgbClr val="FFFFFF"/>
            </a:solidFill>
            <a:prstDash val="solid"/>
          </a:ln>
        </p:spPr>
      </p:sp>
      <p:sp>
        <p:nvSpPr>
          <p:cNvPr id="62" name="new hidden state cell 3"/>
          <p:cNvSpPr/>
          <p:nvPr/>
        </p:nvSpPr>
        <p:spPr>
          <a:xfrm>
            <a:off x="8915400" y="2994660"/>
            <a:ext cx="228600" cy="228600"/>
          </a:xfrm>
          <a:prstGeom prst="rect">
            <a:avLst/>
          </a:prstGeom>
          <a:solidFill>
            <a:srgbClr val="4E7FA8"/>
          </a:solidFill>
          <a:ln w="12700">
            <a:solidFill>
              <a:srgbClr val="FFFFFF"/>
            </a:solidFill>
            <a:prstDash val="solid"/>
          </a:ln>
        </p:spPr>
      </p:sp>
      <p:sp>
        <p:nvSpPr>
          <p:cNvPr id="63" name="new hidden state cell 4"/>
          <p:cNvSpPr/>
          <p:nvPr/>
        </p:nvSpPr>
        <p:spPr>
          <a:xfrm>
            <a:off x="8915400" y="3223260"/>
            <a:ext cx="228600" cy="228600"/>
          </a:xfrm>
          <a:prstGeom prst="rect">
            <a:avLst/>
          </a:prstGeom>
          <a:solidFill>
            <a:srgbClr val="A39BC9"/>
          </a:solidFill>
          <a:ln w="12700">
            <a:solidFill>
              <a:srgbClr val="FFFFFF"/>
            </a:solidFill>
            <a:prstDash val="solid"/>
          </a:ln>
        </p:spPr>
      </p:sp>
      <p:sp>
        <p:nvSpPr>
          <p:cNvPr id="64" name="new hidden state cell 5"/>
          <p:cNvSpPr/>
          <p:nvPr/>
        </p:nvSpPr>
        <p:spPr>
          <a:xfrm>
            <a:off x="8915400" y="3451860"/>
            <a:ext cx="228600" cy="228600"/>
          </a:xfrm>
          <a:prstGeom prst="rect">
            <a:avLst/>
          </a:prstGeom>
          <a:solidFill>
            <a:srgbClr val="7FA7C9"/>
          </a:solidFill>
          <a:ln w="12700">
            <a:solidFill>
              <a:srgbClr val="FFFFFF"/>
            </a:solidFill>
            <a:prstDash val="solid"/>
          </a:ln>
        </p:spPr>
      </p:sp>
      <p:sp>
        <p:nvSpPr>
          <p:cNvPr id="65" name="new hidden state cell 6"/>
          <p:cNvSpPr/>
          <p:nvPr/>
        </p:nvSpPr>
        <p:spPr>
          <a:xfrm>
            <a:off x="8915400" y="3680460"/>
            <a:ext cx="228600" cy="228600"/>
          </a:xfrm>
          <a:prstGeom prst="rect">
            <a:avLst/>
          </a:prstGeom>
          <a:solidFill>
            <a:srgbClr val="6E5A9E"/>
          </a:solidFill>
          <a:ln w="12700">
            <a:solidFill>
              <a:srgbClr val="FFFFFF"/>
            </a:solidFill>
            <a:prstDash val="solid"/>
          </a:ln>
        </p:spPr>
      </p:sp>
      <p:sp>
        <p:nvSpPr>
          <p:cNvPr id="66" name="new hidden state cell 7"/>
          <p:cNvSpPr/>
          <p:nvPr/>
        </p:nvSpPr>
        <p:spPr>
          <a:xfrm>
            <a:off x="8915400" y="3909060"/>
            <a:ext cx="228600" cy="228600"/>
          </a:xfrm>
          <a:prstGeom prst="rect">
            <a:avLst/>
          </a:prstGeom>
          <a:solidFill>
            <a:srgbClr val="A39BC9"/>
          </a:solidFill>
          <a:ln w="12700">
            <a:solidFill>
              <a:srgbClr val="FFFFFF"/>
            </a:solidFill>
            <a:prstDash val="solid"/>
          </a:ln>
        </p:spPr>
      </p:sp>
      <p:sp>
        <p:nvSpPr>
          <p:cNvPr id="67" name="new hidden state cell 8"/>
          <p:cNvSpPr/>
          <p:nvPr/>
        </p:nvSpPr>
        <p:spPr>
          <a:xfrm>
            <a:off x="8915400" y="4137660"/>
            <a:ext cx="228600" cy="228600"/>
          </a:xfrm>
          <a:prstGeom prst="rect">
            <a:avLst/>
          </a:prstGeom>
          <a:solidFill>
            <a:srgbClr val="6E5A9E"/>
          </a:solidFill>
          <a:ln w="12700">
            <a:solidFill>
              <a:srgbClr val="FFFFFF"/>
            </a:solidFill>
            <a:prstDash val="solid"/>
          </a:ln>
        </p:spPr>
      </p:sp>
      <p:sp>
        <p:nvSpPr>
          <p:cNvPr id="68" name="arrow"/>
          <p:cNvSpPr/>
          <p:nvPr/>
        </p:nvSpPr>
        <p:spPr>
          <a:xfrm>
            <a:off x="9189720" y="3451860"/>
            <a:ext cx="914400" cy="0"/>
          </a:xfrm>
          <a:prstGeom prst="line">
            <a:avLst/>
          </a:prstGeom>
          <a:noFill/>
          <a:ln w="22225">
            <a:solidFill>
              <a:srgbClr val="52514E"/>
            </a:solidFill>
            <a:prstDash val="solid"/>
            <a:tailEnd type="triangle"/>
          </a:ln>
        </p:spPr>
      </p:sp>
      <p:sp>
        <p:nvSpPr>
          <p:cNvPr id="69" name="Text 67"/>
          <p:cNvSpPr txBox="1"/>
          <p:nvPr/>
        </p:nvSpPr>
        <p:spPr>
          <a:xfrm>
            <a:off x="9098280" y="3067812"/>
            <a:ext cx="1097280" cy="274320"/>
          </a:xfrm>
          <a:prstGeom prst="rect">
            <a:avLst/>
          </a:prstGeom>
          <a:noFill/>
          <a:ln/>
        </p:spPr>
        <p:txBody>
          <a:bodyPr wrap="square" lIns="0" tIns="0" rIns="0" bIns="0" rtlCol="0" anchor="ctr"/>
          <a:lstStyle/>
          <a:p>
            <a:pPr algn="ctr" indent="0" marL="0">
              <a:buNone/>
            </a:pPr>
            <a:r>
              <a:rPr lang="en-US" sz="1200" dirty="0">
                <a:solidFill>
                  <a:schemeClr val="tx2"/>
                </a:solidFill>
              </a:rPr>
              <a:t>rest of GPT-2</a:t>
            </a:r>
            <a:endParaRPr lang="en-US" sz="1200" dirty="0"/>
          </a:p>
        </p:txBody>
      </p:sp>
      <p:sp>
        <p:nvSpPr>
          <p:cNvPr id="70" name="counterfactual output"/>
          <p:cNvSpPr/>
          <p:nvPr/>
        </p:nvSpPr>
        <p:spPr>
          <a:xfrm>
            <a:off x="10149840" y="3086100"/>
            <a:ext cx="1600200" cy="731520"/>
          </a:xfrm>
          <a:prstGeom prst="roundRect">
            <a:avLst>
              <a:gd name="adj" fmla="val 12500"/>
            </a:avLst>
          </a:prstGeom>
          <a:solidFill>
            <a:srgbClr val="C3E6C4"/>
          </a:solidFill>
          <a:ln w="19050">
            <a:solidFill>
              <a:srgbClr val="1B7837"/>
            </a:solidFill>
          </a:ln>
        </p:spPr>
        <p:txBody>
          <a:bodyPr wrap="square" lIns="0" tIns="0" rIns="0" bIns="0" rtlCol="0" anchor="ctr"/>
          <a:lstStyle/>
          <a:p>
            <a:pPr algn="ctr" indent="0" marL="0">
              <a:buNone/>
            </a:pPr>
            <a:r>
              <a:rPr lang="en-US" sz="2800" b="1" dirty="0">
                <a:solidFill>
                  <a:srgbClr val="1B7837"/>
                </a:solidFill>
              </a:rPr>
              <a:t>Anna</a:t>
            </a:r>
            <a:endParaRPr lang="en-US" sz="2800" dirty="0"/>
          </a:p>
        </p:txBody>
      </p:sp>
      <p:sp>
        <p:nvSpPr>
          <p:cNvPr id="71" name="Text 69"/>
          <p:cNvSpPr txBox="1"/>
          <p:nvPr/>
        </p:nvSpPr>
        <p:spPr>
          <a:xfrm>
            <a:off x="10058400" y="3909060"/>
            <a:ext cx="1783080" cy="274320"/>
          </a:xfrm>
          <a:prstGeom prst="rect">
            <a:avLst/>
          </a:prstGeom>
          <a:noFill/>
          <a:ln/>
        </p:spPr>
        <p:txBody>
          <a:bodyPr wrap="square" lIns="0" tIns="0" rIns="0" bIns="0" rtlCol="0" anchor="ctr"/>
          <a:lstStyle/>
          <a:p>
            <a:pPr algn="ctr" indent="0" marL="0">
              <a:buNone/>
            </a:pPr>
            <a:r>
              <a:rPr lang="en-US" sz="1200" dirty="0">
                <a:solidFill>
                  <a:schemeClr val="tx2"/>
                </a:solidFill>
              </a:rPr>
              <a:t>counterfactual output</a:t>
            </a:r>
            <a:endParaRPr lang="en-US" sz="1200" dirty="0"/>
          </a:p>
        </p:txBody>
      </p:sp>
      <p:sp>
        <p:nvSpPr>
          <p:cNvPr id="72" name="Text 70"/>
          <p:cNvSpPr txBox="1"/>
          <p:nvPr/>
        </p:nvSpPr>
        <p:spPr>
          <a:xfrm>
            <a:off x="457200" y="5897880"/>
            <a:ext cx="5486400" cy="365760"/>
          </a:xfrm>
          <a:prstGeom prst="rect">
            <a:avLst/>
          </a:prstGeom>
          <a:noFill/>
          <a:ln/>
        </p:spPr>
        <p:txBody>
          <a:bodyPr wrap="square" lIns="0" tIns="0" rIns="0" bIns="0" rtlCol="0" anchor="ctr"/>
          <a:lstStyle/>
          <a:p>
            <a:pPr indent="0" marL="0">
              <a:buNone/>
            </a:pPr>
            <a:r>
              <a:rPr lang="en-US" sz="1600" b="1" dirty="0">
                <a:solidFill>
                  <a:schemeClr val="tx1"/>
                </a:solidFill>
              </a:rPr>
              <a:t>IIA</a:t>
            </a:r>
            <a:r>
              <a:rPr lang="en-US" sz="1600" dirty="0">
                <a:solidFill>
                  <a:schemeClr val="tx1"/>
                </a:solidFill>
              </a:rPr>
              <a:t>: how often the output is the algorithm's counterfactual</a:t>
            </a:r>
            <a:endParaRPr lang="en-US" sz="1600" dirty="0"/>
          </a:p>
        </p:txBody>
      </p:sp>
      <p:sp>
        <p:nvSpPr>
          <p:cNvPr id="73" name="references"/>
          <p:cNvSpPr txBox="1"/>
          <p:nvPr/>
        </p:nvSpPr>
        <p:spPr>
          <a:xfrm>
            <a:off x="5120640" y="5806440"/>
            <a:ext cx="6629400" cy="822960"/>
          </a:xfrm>
          <a:prstGeom prst="rect">
            <a:avLst/>
          </a:prstGeom>
          <a:noFill/>
          <a:ln/>
        </p:spPr>
        <p:txBody>
          <a:bodyPr wrap="square" lIns="0" tIns="0" rIns="0" bIns="0" rtlCol="0" anchor="b"/>
          <a:lstStyle/>
          <a:p>
            <a:pPr algn="r" indent="0" marL="0">
              <a:buNone/>
            </a:pPr>
            <a:r>
              <a:rPr lang="en-US" sz="1100" dirty="0">
                <a:solidFill>
                  <a:schemeClr val="tx2"/>
                </a:solidFill>
              </a:rPr>
              <a:t>Causal abstraction: Geiger et al., NeurIPS 2021 · DAS: Geiger et al., CLeaR 2024</a:t>
            </a:r>
            <a:endParaRPr lang="en-US" sz="1100" dirty="0"/>
          </a:p>
          <a:p>
            <a:pPr algn="r" indent="0" marL="0">
              <a:buNone/>
            </a:pPr>
            <a:r>
              <a:rPr lang="en-US" sz="1100" dirty="0">
                <a:solidFill>
                  <a:schemeClr val="tx2"/>
                </a:solidFill>
              </a:rPr>
              <a:t>IOI: Wang et al., ICLR 2023</a:t>
            </a:r>
            <a:endParaRPr lang="en-US" sz="1100" dirty="0"/>
          </a:p>
          <a:p>
            <a:pPr algn="r" indent="0" marL="0">
              <a:buNone/>
            </a:pPr>
            <a:r>
              <a:rPr lang="en-US" sz="1100" dirty="0">
                <a:solidFill>
                  <a:schemeClr val="tx2"/>
                </a:solidFill>
              </a:rPr>
              <a:t>Manufactured alignments: Sutter et al., NeurIPS 2025</a:t>
            </a:r>
            <a:endParaRPr lang="en-US" sz="11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Description length: code the counterfactuals, count the bits</a:t>
            </a:r>
            <a:endParaRPr lang="en-US" sz="2800" dirty="0"/>
          </a:p>
        </p:txBody>
      </p:sp>
      <p:sp>
        <p:nvSpPr>
          <p:cNvPr id="3" name="learner tag bayes"/>
          <p:cNvSpPr/>
          <p:nvPr/>
        </p:nvSpPr>
        <p:spPr>
          <a:xfrm>
            <a:off x="10820095" y="73152"/>
            <a:ext cx="96012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Bayes λ</a:t>
            </a:r>
            <a:endParaRPr lang="en-US" sz="1100" dirty="0"/>
          </a:p>
        </p:txBody>
      </p:sp>
      <p:sp>
        <p:nvSpPr>
          <p:cNvPr id="4" name="learner tag plug"/>
          <p:cNvSpPr/>
          <p:nvPr/>
        </p:nvSpPr>
        <p:spPr>
          <a:xfrm>
            <a:off x="9018727" y="73152"/>
            <a:ext cx="1691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plug-in κ (MAP)</a:t>
            </a:r>
            <a:endParaRPr lang="en-US" sz="1100" dirty="0"/>
          </a:p>
        </p:txBody>
      </p:sp>
      <p:sp>
        <p:nvSpPr>
          <p:cNvPr id="5" name="formula"/>
          <p:cNvSpPr txBox="1"/>
          <p:nvPr/>
        </p:nvSpPr>
        <p:spPr>
          <a:xfrm>
            <a:off x="457200" y="1280160"/>
            <a:ext cx="5486400" cy="548640"/>
          </a:xfrm>
          <a:prstGeom prst="rect">
            <a:avLst/>
          </a:prstGeom>
          <a:noFill/>
          <a:ln/>
        </p:spPr>
        <p:txBody>
          <a:bodyPr wrap="square" lIns="0" tIns="0" rIns="0" bIns="0" rtlCol="0" anchor="ctr"/>
          <a:lstStyle/>
          <a:p>
            <a:pPr algn="ctr" indent="0" marL="0">
              <a:buNone/>
            </a:pPr>
            <a:r>
              <a:rPr lang="en-US" sz="2400" i="1" dirty="0">
                <a:solidFill>
                  <a:schemeClr val="tx1"/>
                </a:solidFill>
                <a:latin typeface="Cambria" pitchFamily="34" charset="0"/>
                <a:ea typeface="Cambria" pitchFamily="34" charset="-122"/>
                <a:cs typeface="Cambria" pitchFamily="34" charset="-120"/>
              </a:rPr>
              <a:t>DL(n) = Σᵢ −log₂ p</a:t>
            </a:r>
            <a:r>
              <a:rPr lang="en-US" sz="2400" i="1" baseline="-40000" dirty="0">
                <a:solidFill>
                  <a:schemeClr val="tx1"/>
                </a:solidFill>
                <a:latin typeface="Cambria" pitchFamily="34" charset="0"/>
                <a:ea typeface="Cambria" pitchFamily="34" charset="-122"/>
                <a:cs typeface="Cambria" pitchFamily="34" charset="-120"/>
              </a:rPr>
              <a:t>φ̂(i−1)</a:t>
            </a:r>
            <a:r>
              <a:rPr lang="en-US" sz="2400" i="1" dirty="0">
                <a:solidFill>
                  <a:schemeClr val="tx1"/>
                </a:solidFill>
                <a:latin typeface="Cambria" pitchFamily="34" charset="0"/>
                <a:ea typeface="Cambria" pitchFamily="34" charset="-122"/>
                <a:cs typeface="Cambria" pitchFamily="34" charset="-120"/>
              </a:rPr>
              <a:t>(yᵢ)</a:t>
            </a:r>
            <a:endParaRPr lang="en-US" sz="2400" dirty="0"/>
          </a:p>
        </p:txBody>
      </p:sp>
      <p:sp>
        <p:nvSpPr>
          <p:cNvPr id="6" name="formula"/>
          <p:cNvSpPr txBox="1"/>
          <p:nvPr/>
        </p:nvSpPr>
        <p:spPr>
          <a:xfrm>
            <a:off x="6263640" y="1280160"/>
            <a:ext cx="5486400" cy="548640"/>
          </a:xfrm>
          <a:prstGeom prst="rect">
            <a:avLst/>
          </a:prstGeom>
          <a:noFill/>
          <a:ln/>
        </p:spPr>
        <p:txBody>
          <a:bodyPr wrap="square" lIns="0" tIns="0" rIns="0" bIns="0" rtlCol="0" anchor="ctr"/>
          <a:lstStyle/>
          <a:p>
            <a:pPr algn="ctr" indent="0" marL="0">
              <a:buNone/>
            </a:pPr>
            <a:r>
              <a:rPr lang="en-US" sz="2400" i="1" dirty="0">
                <a:solidFill>
                  <a:schemeClr val="tx1"/>
                </a:solidFill>
                <a:latin typeface="Cambria" pitchFamily="34" charset="0"/>
                <a:ea typeface="Cambria" pitchFamily="34" charset="-122"/>
                <a:cs typeface="Cambria" pitchFamily="34" charset="-120"/>
              </a:rPr>
              <a:t>G(n) = DL</a:t>
            </a:r>
            <a:r>
              <a:rPr lang="en-US" sz="2400" i="1" baseline="-40000" dirty="0">
                <a:solidFill>
                  <a:schemeClr val="tx1"/>
                </a:solidFill>
                <a:latin typeface="Cambria" pitchFamily="34" charset="0"/>
                <a:ea typeface="Cambria" pitchFamily="34" charset="-122"/>
                <a:cs typeface="Cambria" pitchFamily="34" charset="-120"/>
              </a:rPr>
              <a:t>control</a:t>
            </a:r>
            <a:r>
              <a:rPr lang="en-US" sz="2400" i="1" dirty="0">
                <a:solidFill>
                  <a:schemeClr val="tx1"/>
                </a:solidFill>
                <a:latin typeface="Cambria" pitchFamily="34" charset="0"/>
                <a:ea typeface="Cambria" pitchFamily="34" charset="-122"/>
                <a:cs typeface="Cambria" pitchFamily="34" charset="-120"/>
              </a:rPr>
              <a:t>(n) − DL</a:t>
            </a:r>
            <a:r>
              <a:rPr lang="en-US" sz="2400" i="1" baseline="-40000" dirty="0">
                <a:solidFill>
                  <a:schemeClr val="tx1"/>
                </a:solidFill>
                <a:latin typeface="Cambria" pitchFamily="34" charset="0"/>
                <a:ea typeface="Cambria" pitchFamily="34" charset="-122"/>
                <a:cs typeface="Cambria" pitchFamily="34" charset="-120"/>
              </a:rPr>
              <a:t>hyp</a:t>
            </a:r>
            <a:r>
              <a:rPr lang="en-US" sz="2400" i="1" dirty="0">
                <a:solidFill>
                  <a:schemeClr val="tx1"/>
                </a:solidFill>
                <a:latin typeface="Cambria" pitchFamily="34" charset="0"/>
                <a:ea typeface="Cambria" pitchFamily="34" charset="-122"/>
                <a:cs typeface="Cambria" pitchFamily="34" charset="-120"/>
              </a:rPr>
              <a:t>(n)</a:t>
            </a:r>
            <a:endParaRPr lang="en-US" sz="2400" dirty="0"/>
          </a:p>
        </p:txBody>
      </p:sp>
      <p:sp>
        <p:nvSpPr>
          <p:cNvPr id="7" name="Text 5"/>
          <p:cNvSpPr txBox="1"/>
          <p:nvPr/>
        </p:nvSpPr>
        <p:spPr>
          <a:xfrm>
            <a:off x="457200" y="1874520"/>
            <a:ext cx="11247120" cy="320040"/>
          </a:xfrm>
          <a:prstGeom prst="rect">
            <a:avLst/>
          </a:prstGeom>
          <a:noFill/>
          <a:ln/>
        </p:spPr>
        <p:txBody>
          <a:bodyPr wrap="square" lIns="0" tIns="0" rIns="0" bIns="0" rtlCol="0" anchor="ctr"/>
          <a:lstStyle/>
          <a:p>
            <a:pPr algn="ctr" indent="0" marL="0">
              <a:buNone/>
            </a:pPr>
            <a:r>
              <a:rPr lang="en-US" sz="1500" i="1" dirty="0">
                <a:solidFill>
                  <a:schemeClr val="tx2"/>
                </a:solidFill>
              </a:rPr>
              <a:t>each counterfactual label is coded before the map is fitted on it  ·  for a Bayes predictive, DL is the free energy Fₙ</a:t>
            </a:r>
            <a:endParaRPr lang="en-US" sz="1500" dirty="0"/>
          </a:p>
        </p:txBody>
      </p:sp>
      <p:sp>
        <p:nvSpPr>
          <p:cNvPr id="8" name="Text 6"/>
          <p:cNvSpPr txBox="1"/>
          <p:nvPr/>
        </p:nvSpPr>
        <p:spPr>
          <a:xfrm>
            <a:off x="1051560" y="2514600"/>
            <a:ext cx="1737360" cy="868680"/>
          </a:xfrm>
          <a:prstGeom prst="rect">
            <a:avLst/>
          </a:prstGeom>
          <a:noFill/>
          <a:ln/>
        </p:spPr>
        <p:txBody>
          <a:bodyPr wrap="square" lIns="0" tIns="0" rIns="0" bIns="0" rtlCol="0" anchor="ctr"/>
          <a:lstStyle/>
          <a:p>
            <a:pPr algn="r" indent="0" marL="0">
              <a:buNone/>
            </a:pPr>
            <a:r>
              <a:rPr lang="en-US" sz="3800" i="1" dirty="0">
                <a:solidFill>
                  <a:schemeClr val="tx1"/>
                </a:solidFill>
                <a:latin typeface="Cambria" pitchFamily="34" charset="0"/>
                <a:ea typeface="Cambria" pitchFamily="34" charset="-122"/>
                <a:cs typeface="Cambria" pitchFamily="34" charset="-120"/>
              </a:rPr>
              <a:t>G(n) ≈</a:t>
            </a:r>
            <a:endParaRPr lang="en-US" sz="3800" dirty="0"/>
          </a:p>
        </p:txBody>
      </p:sp>
      <p:sp>
        <p:nvSpPr>
          <p:cNvPr id="9" name="gain term"/>
          <p:cNvSpPr/>
          <p:nvPr/>
        </p:nvSpPr>
        <p:spPr>
          <a:xfrm>
            <a:off x="2971800" y="2514600"/>
            <a:ext cx="1828800" cy="868680"/>
          </a:xfrm>
          <a:prstGeom prst="roundRect">
            <a:avLst>
              <a:gd name="adj" fmla="val 12632"/>
            </a:avLst>
          </a:prstGeom>
          <a:solidFill>
            <a:srgbClr val="F9E3EC"/>
          </a:solidFill>
          <a:ln>
            <a:solidFill>
              <a:srgbClr val="F9E3EC"/>
            </a:solidFill>
          </a:ln>
        </p:spPr>
        <p:txBody>
          <a:bodyPr wrap="square" lIns="0" tIns="0" rIns="0" bIns="0" rtlCol="0" anchor="ctr"/>
          <a:lstStyle/>
          <a:p>
            <a:pPr algn="ctr" indent="0" marL="0">
              <a:buNone/>
            </a:pPr>
            <a:r>
              <a:rPr lang="en-US" sz="3800" i="1" dirty="0">
                <a:solidFill>
                  <a:schemeClr val="accent6"/>
                </a:solidFill>
                <a:latin typeface="Cambria" pitchFamily="34" charset="0"/>
                <a:ea typeface="Cambria" pitchFamily="34" charset="-122"/>
                <a:cs typeface="Cambria" pitchFamily="34" charset="-120"/>
              </a:rPr>
              <a:t>n Δℓ</a:t>
            </a:r>
            <a:endParaRPr lang="en-US" sz="3800" dirty="0"/>
          </a:p>
        </p:txBody>
      </p:sp>
      <p:sp>
        <p:nvSpPr>
          <p:cNvPr id="10" name="Text 8"/>
          <p:cNvSpPr txBox="1"/>
          <p:nvPr/>
        </p:nvSpPr>
        <p:spPr>
          <a:xfrm>
            <a:off x="5852160" y="2514600"/>
            <a:ext cx="548640" cy="868680"/>
          </a:xfrm>
          <a:prstGeom prst="rect">
            <a:avLst/>
          </a:prstGeom>
          <a:noFill/>
          <a:ln/>
        </p:spPr>
        <p:txBody>
          <a:bodyPr wrap="square" lIns="0" tIns="0" rIns="0" bIns="0" rtlCol="0" anchor="ctr"/>
          <a:lstStyle/>
          <a:p>
            <a:pPr algn="ctr" indent="0" marL="0">
              <a:buNone/>
            </a:pPr>
            <a:r>
              <a:rPr lang="en-US" sz="3800" i="1" dirty="0">
                <a:solidFill>
                  <a:schemeClr val="tx1"/>
                </a:solidFill>
                <a:latin typeface="Cambria" pitchFamily="34" charset="0"/>
                <a:ea typeface="Cambria" pitchFamily="34" charset="-122"/>
                <a:cs typeface="Cambria" pitchFamily="34" charset="-120"/>
              </a:rPr>
              <a:t>+</a:t>
            </a:r>
            <a:endParaRPr lang="en-US" sz="3800" dirty="0"/>
          </a:p>
        </p:txBody>
      </p:sp>
      <p:sp>
        <p:nvSpPr>
          <p:cNvPr id="11" name="gain term"/>
          <p:cNvSpPr/>
          <p:nvPr/>
        </p:nvSpPr>
        <p:spPr>
          <a:xfrm>
            <a:off x="7178040" y="2514600"/>
            <a:ext cx="2377440" cy="868680"/>
          </a:xfrm>
          <a:prstGeom prst="roundRect">
            <a:avLst>
              <a:gd name="adj" fmla="val 12632"/>
            </a:avLst>
          </a:prstGeom>
          <a:solidFill>
            <a:srgbClr val="FCE7DD"/>
          </a:solidFill>
          <a:ln>
            <a:solidFill>
              <a:srgbClr val="FCE7DD"/>
            </a:solidFill>
          </a:ln>
        </p:spPr>
        <p:txBody>
          <a:bodyPr wrap="square" lIns="0" tIns="0" rIns="0" bIns="0" rtlCol="0" anchor="ctr"/>
          <a:lstStyle/>
          <a:p>
            <a:pPr algn="ctr" indent="0" marL="0">
              <a:buNone/>
            </a:pPr>
            <a:r>
              <a:rPr lang="en-US" sz="3800" i="1" dirty="0">
                <a:solidFill>
                  <a:schemeClr val="accent2"/>
                </a:solidFill>
                <a:latin typeface="Cambria" pitchFamily="34" charset="0"/>
                <a:ea typeface="Cambria" pitchFamily="34" charset="-122"/>
                <a:cs typeface="Cambria" pitchFamily="34" charset="-120"/>
              </a:rPr>
              <a:t>Δλ ln n</a:t>
            </a:r>
            <a:endParaRPr lang="en-US" sz="3800" dirty="0"/>
          </a:p>
        </p:txBody>
      </p:sp>
      <p:sp>
        <p:nvSpPr>
          <p:cNvPr id="12" name="Text 10"/>
          <p:cNvSpPr txBox="1"/>
          <p:nvPr/>
        </p:nvSpPr>
        <p:spPr>
          <a:xfrm>
            <a:off x="9646920" y="2514600"/>
            <a:ext cx="1097280" cy="868680"/>
          </a:xfrm>
          <a:prstGeom prst="rect">
            <a:avLst/>
          </a:prstGeom>
          <a:noFill/>
          <a:ln/>
        </p:spPr>
        <p:txBody>
          <a:bodyPr wrap="square" lIns="0" tIns="0" rIns="0" bIns="0" rtlCol="0" anchor="ctr"/>
          <a:lstStyle/>
          <a:p>
            <a:pPr algn="l" indent="0" marL="0">
              <a:buNone/>
            </a:pPr>
            <a:r>
              <a:rPr lang="en-US" sz="3800" i="1" dirty="0">
                <a:solidFill>
                  <a:schemeClr val="tx1"/>
                </a:solidFill>
                <a:latin typeface="Cambria" pitchFamily="34" charset="0"/>
                <a:ea typeface="Cambria" pitchFamily="34" charset="-122"/>
                <a:cs typeface="Cambria" pitchFamily="34" charset="-120"/>
              </a:rPr>
              <a:t>+ …</a:t>
            </a:r>
            <a:endParaRPr lang="en-US" sz="3800" dirty="0"/>
          </a:p>
        </p:txBody>
      </p:sp>
      <p:sp>
        <p:nvSpPr>
          <p:cNvPr id="13" name="card Linear: realizability"/>
          <p:cNvSpPr/>
          <p:nvPr/>
        </p:nvSpPr>
        <p:spPr>
          <a:xfrm>
            <a:off x="1783080" y="3749040"/>
            <a:ext cx="4206240" cy="1691640"/>
          </a:xfrm>
          <a:prstGeom prst="roundRect">
            <a:avLst>
              <a:gd name="adj" fmla="val 5405"/>
            </a:avLst>
          </a:prstGeom>
          <a:solidFill>
            <a:srgbClr val="F9E3EC"/>
          </a:solidFill>
          <a:ln w="12700">
            <a:solidFill>
              <a:srgbClr val="F9E3EC"/>
            </a:solidFill>
            <a:prstDash val="solid"/>
          </a:ln>
        </p:spPr>
      </p:sp>
      <p:sp>
        <p:nvSpPr>
          <p:cNvPr id="14" name="Text 12"/>
          <p:cNvSpPr txBox="1"/>
          <p:nvPr/>
        </p:nvSpPr>
        <p:spPr>
          <a:xfrm>
            <a:off x="2011680" y="3886200"/>
            <a:ext cx="3749040" cy="411480"/>
          </a:xfrm>
          <a:prstGeom prst="rect">
            <a:avLst/>
          </a:prstGeom>
          <a:noFill/>
          <a:ln/>
        </p:spPr>
        <p:txBody>
          <a:bodyPr wrap="square" lIns="0" tIns="0" rIns="0" bIns="0" rtlCol="0" anchor="ctr"/>
          <a:lstStyle/>
          <a:p>
            <a:pPr indent="0" marL="0">
              <a:buNone/>
            </a:pPr>
            <a:r>
              <a:rPr lang="en-US" sz="2000" b="1" dirty="0">
                <a:solidFill>
                  <a:schemeClr val="accent6"/>
                </a:solidFill>
                <a:latin typeface="Cambria" pitchFamily="34" charset="0"/>
                <a:ea typeface="Cambria" pitchFamily="34" charset="-122"/>
                <a:cs typeface="Cambria" pitchFamily="34" charset="-120"/>
              </a:rPr>
              <a:t>Linear: realizability</a:t>
            </a:r>
            <a:endParaRPr lang="en-US" sz="2000" dirty="0"/>
          </a:p>
        </p:txBody>
      </p:sp>
      <p:sp>
        <p:nvSpPr>
          <p:cNvPr id="15" name="Text 13"/>
          <p:cNvSpPr txBox="1"/>
          <p:nvPr/>
        </p:nvSpPr>
        <p:spPr>
          <a:xfrm>
            <a:off x="2011680" y="4343400"/>
            <a:ext cx="3749040" cy="1005840"/>
          </a:xfrm>
          <a:prstGeom prst="rect">
            <a:avLst/>
          </a:prstGeom>
          <a:noFill/>
          <a:ln/>
        </p:spPr>
        <p:txBody>
          <a:bodyPr wrap="square" lIns="0" tIns="0" rIns="0" bIns="0" rtlCol="0" anchor="t"/>
          <a:lstStyle/>
          <a:p>
            <a:pPr indent="0" marL="0">
              <a:buNone/>
            </a:pPr>
            <a:r>
              <a:rPr lang="en-US" sz="1600" dirty="0">
                <a:solidFill>
                  <a:schemeClr val="tx1"/>
                </a:solidFill>
              </a:rPr>
              <a:t>Can the family reproduce the counterfactual law at all? If not, it falls behind linearly in n: rejected outright.</a:t>
            </a:r>
            <a:endParaRPr lang="en-US" sz="1600" dirty="0"/>
          </a:p>
        </p:txBody>
      </p:sp>
      <p:sp>
        <p:nvSpPr>
          <p:cNvPr id="16" name="card Logarithmic: complexity"/>
          <p:cNvSpPr/>
          <p:nvPr/>
        </p:nvSpPr>
        <p:spPr>
          <a:xfrm>
            <a:off x="6263640" y="3749040"/>
            <a:ext cx="4206240" cy="1691640"/>
          </a:xfrm>
          <a:prstGeom prst="roundRect">
            <a:avLst>
              <a:gd name="adj" fmla="val 5405"/>
            </a:avLst>
          </a:prstGeom>
          <a:solidFill>
            <a:srgbClr val="FCE7DD"/>
          </a:solidFill>
          <a:ln w="12700">
            <a:solidFill>
              <a:srgbClr val="FCE7DD"/>
            </a:solidFill>
            <a:prstDash val="solid"/>
          </a:ln>
        </p:spPr>
      </p:sp>
      <p:sp>
        <p:nvSpPr>
          <p:cNvPr id="17" name="Text 15"/>
          <p:cNvSpPr txBox="1"/>
          <p:nvPr/>
        </p:nvSpPr>
        <p:spPr>
          <a:xfrm>
            <a:off x="6492240" y="3886200"/>
            <a:ext cx="3749040" cy="41148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Logarithmic: complexity</a:t>
            </a:r>
            <a:endParaRPr lang="en-US" sz="2000" dirty="0"/>
          </a:p>
        </p:txBody>
      </p:sp>
      <p:sp>
        <p:nvSpPr>
          <p:cNvPr id="18" name="Text 16"/>
          <p:cNvSpPr txBox="1"/>
          <p:nvPr/>
        </p:nvSpPr>
        <p:spPr>
          <a:xfrm>
            <a:off x="6492240" y="4343400"/>
            <a:ext cx="3749040" cy="1005840"/>
          </a:xfrm>
          <a:prstGeom prst="rect">
            <a:avLst/>
          </a:prstGeom>
          <a:noFill/>
          <a:ln/>
        </p:spPr>
        <p:txBody>
          <a:bodyPr wrap="square" lIns="0" tIns="0" rIns="0" bIns="0" rtlCol="0" anchor="t"/>
          <a:lstStyle/>
          <a:p>
            <a:pPr indent="0" marL="0">
              <a:buNone/>
            </a:pPr>
            <a:r>
              <a:rPr lang="en-US" sz="1600" dirty="0">
                <a:solidFill>
                  <a:schemeClr val="tx1"/>
                </a:solidFill>
              </a:rPr>
              <a:t>Both fit: the gain is a learning-coefficient difference. Our codes are plug-in: </a:t>
            </a:r>
            <a:r>
              <a:rPr lang="en-US" sz="1600" b="1" dirty="0">
                <a:solidFill>
                  <a:schemeClr val="accent1"/>
                </a:solidFill>
              </a:rPr>
              <a:t>λ → κ</a:t>
            </a:r>
            <a:r>
              <a:rPr lang="en-US" sz="1600" dirty="0">
                <a:solidFill>
                  <a:schemeClr val="tx1"/>
                </a:solidFill>
              </a:rPr>
              <a:t>.</a:t>
            </a:r>
            <a:endParaRPr lang="en-US" sz="1600" dirty="0"/>
          </a:p>
        </p:txBody>
      </p:sp>
      <p:sp>
        <p:nvSpPr>
          <p:cNvPr id="19" name="references"/>
          <p:cNvSpPr txBox="1"/>
          <p:nvPr/>
        </p:nvSpPr>
        <p:spPr>
          <a:xfrm>
            <a:off x="5120640" y="5806440"/>
            <a:ext cx="6629400" cy="822960"/>
          </a:xfrm>
          <a:prstGeom prst="rect">
            <a:avLst/>
          </a:prstGeom>
          <a:noFill/>
          <a:ln/>
        </p:spPr>
        <p:txBody>
          <a:bodyPr wrap="square" lIns="0" tIns="0" rIns="0" bIns="0" rtlCol="0" anchor="b"/>
          <a:lstStyle/>
          <a:p>
            <a:pPr algn="r" indent="0" marL="0">
              <a:buNone/>
            </a:pPr>
            <a:r>
              <a:rPr lang="en-US" sz="1100" dirty="0">
                <a:solidFill>
                  <a:schemeClr val="tx2"/>
                </a:solidFill>
              </a:rPr>
              <a:t>Prequential codes: Dawid 1984; Grünwald, The MDL Principle 2007</a:t>
            </a:r>
            <a:endParaRPr lang="en-US" sz="1100" dirty="0"/>
          </a:p>
          <a:p>
            <a:pPr algn="r" indent="0" marL="0">
              <a:buNone/>
            </a:pPr>
            <a:r>
              <a:rPr lang="en-US" sz="1100" dirty="0">
                <a:solidFill>
                  <a:schemeClr val="tx2"/>
                </a:solidFill>
              </a:rPr>
              <a:t>Free energy: Watanabe 2009 · MDL meets SLT: Urdshals et al. 2025</a:t>
            </a:r>
            <a:endParaRPr lang="en-US" sz="1100" dirty="0"/>
          </a:p>
          <a:p>
            <a:pPr algn="r" indent="0" marL="0">
              <a:buNone/>
            </a:pPr>
            <a:r>
              <a:rPr lang="en-US" sz="1100" dirty="0">
                <a:solidFill>
                  <a:schemeClr val="tx2"/>
                </a:solidFill>
              </a:rPr>
              <a:t>MDL probing: Voita &amp; Titov, EMNLP 2020</a:t>
            </a:r>
            <a:endParaRPr lang="en-US" sz="11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Interchange accuracy accepts explanations that the code rejects</a:t>
            </a:r>
            <a:endParaRPr lang="en-US" sz="2800" dirty="0"/>
          </a:p>
        </p:txBody>
      </p:sp>
      <p:sp>
        <p:nvSpPr>
          <p:cNvPr id="3" name="learner tag plug"/>
          <p:cNvSpPr/>
          <p:nvPr/>
        </p:nvSpPr>
        <p:spPr>
          <a:xfrm>
            <a:off x="10088575" y="73152"/>
            <a:ext cx="1691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plug-in κ (MAP)</a:t>
            </a:r>
            <a:endParaRPr lang="en-US" sz="1100" dirty="0"/>
          </a:p>
        </p:txBody>
      </p:sp>
      <p:pic>
        <p:nvPicPr>
          <p:cNvPr id="4" name="figure iia_vs_code.png" descr="iia_vs_code.png">    </p:cNvPr>
          <p:cNvPicPr>
            <a:picLocks noChangeAspect="1"/>
          </p:cNvPicPr>
          <p:nvPr/>
        </p:nvPicPr>
        <p:blipFill>
          <a:blip r:embed="rId1"/>
          <a:stretch>
            <a:fillRect/>
          </a:stretch>
        </p:blipFill>
        <p:spPr>
          <a:xfrm>
            <a:off x="411480" y="1325880"/>
            <a:ext cx="8138160" cy="4260719"/>
          </a:xfrm>
          <a:prstGeom prst="rect">
            <a:avLst/>
          </a:prstGeom>
        </p:spPr>
      </p:pic>
      <p:sp>
        <p:nvSpPr>
          <p:cNvPr id="5" name="takeaways"/>
          <p:cNvSpPr txBox="1"/>
          <p:nvPr/>
        </p:nvSpPr>
        <p:spPr>
          <a:xfrm>
            <a:off x="8915400" y="1828800"/>
            <a:ext cx="2834640" cy="3108960"/>
          </a:xfrm>
          <a:prstGeom prst="rect">
            <a:avLst/>
          </a:prstGeom>
          <a:noFill/>
          <a:ln/>
        </p:spPr>
        <p:txBody>
          <a:bodyPr wrap="square" lIns="0" tIns="0" rIns="0" bIns="0" rtlCol="0" anchor="t"/>
          <a:lstStyle/>
          <a:p>
            <a:pPr indent="0" marL="0">
              <a:spcAft>
                <a:spcPts val="2200"/>
              </a:spcAft>
              <a:buNone/>
            </a:pPr>
            <a:r>
              <a:rPr lang="en-US" sz="2000" dirty="0">
                <a:solidFill>
                  <a:schemeClr val="tx1"/>
                </a:solidFill>
              </a:rPr>
              <a:t>Manufactured alignments pass an IIA threshold, </a:t>
            </a:r>
            <a:r>
              <a:rPr lang="en-US" sz="2000" b="1" dirty="0">
                <a:solidFill>
                  <a:schemeClr val="accent5"/>
                </a:solidFill>
              </a:rPr>
              <a:t>and the code rejects them</a:t>
            </a:r>
            <a:endParaRPr lang="en-US" sz="2000" dirty="0"/>
          </a:p>
          <a:p>
            <a:pPr indent="0" marL="0">
              <a:spcAft>
                <a:spcPts val="2200"/>
              </a:spcAft>
              <a:buNone/>
            </a:pPr>
            <a:r>
              <a:rPr lang="en-US" sz="2000" dirty="0">
                <a:solidFill>
                  <a:schemeClr val="tx1"/>
                </a:solidFill>
              </a:rPr>
              <a:t>More expressive alignment maps </a:t>
            </a:r>
            <a:r>
              <a:rPr lang="en-US" sz="2000" b="1" dirty="0">
                <a:solidFill>
                  <a:schemeClr val="tx1"/>
                </a:solidFill>
              </a:rPr>
              <a:t>pay more bits</a:t>
            </a:r>
            <a:endParaRPr lang="en-US" sz="2000" dirty="0"/>
          </a:p>
        </p:txBody>
      </p:sp>
      <p:sp>
        <p:nvSpPr>
          <p:cNvPr id="6" name="references"/>
          <p:cNvSpPr txBox="1"/>
          <p:nvPr/>
        </p:nvSpPr>
        <p:spPr>
          <a:xfrm>
            <a:off x="5120640" y="5806440"/>
            <a:ext cx="6629400" cy="822960"/>
          </a:xfrm>
          <a:prstGeom prst="rect">
            <a:avLst/>
          </a:prstGeom>
          <a:noFill/>
          <a:ln/>
        </p:spPr>
        <p:txBody>
          <a:bodyPr wrap="square" lIns="0" tIns="0" rIns="0" bIns="0" rtlCol="0" anchor="b"/>
          <a:lstStyle/>
          <a:p>
            <a:pPr algn="r" indent="0" marL="0">
              <a:buNone/>
            </a:pPr>
            <a:r>
              <a:rPr lang="en-US" sz="1100" dirty="0">
                <a:solidFill>
                  <a:schemeClr val="tx2"/>
                </a:solidFill>
              </a:rPr>
              <a:t>Sutter et al., NeurIPS 2025 · Makelov et al., ICLR 2024</a:t>
            </a:r>
            <a:endParaRPr lang="en-US" sz="11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The complexity ladder: κ orders four explanations</a:t>
            </a:r>
            <a:endParaRPr lang="en-US" sz="2800" dirty="0"/>
          </a:p>
        </p:txBody>
      </p:sp>
      <p:sp>
        <p:nvSpPr>
          <p:cNvPr id="3" name="learner tag plug"/>
          <p:cNvSpPr/>
          <p:nvPr/>
        </p:nvSpPr>
        <p:spPr>
          <a:xfrm>
            <a:off x="10088575" y="73152"/>
            <a:ext cx="1691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plug-in κ (MAP)</a:t>
            </a:r>
            <a:endParaRPr lang="en-US" sz="1100" dirty="0"/>
          </a:p>
        </p:txBody>
      </p:sp>
      <p:pic>
        <p:nvPicPr>
          <p:cNvPr id="4" name="figure ladder_panels.png" descr="ladder_panels.png">    </p:cNvPr>
          <p:cNvPicPr>
            <a:picLocks noChangeAspect="1"/>
          </p:cNvPicPr>
          <p:nvPr/>
        </p:nvPicPr>
        <p:blipFill>
          <a:blip r:embed="rId1"/>
          <a:stretch>
            <a:fillRect/>
          </a:stretch>
        </p:blipFill>
        <p:spPr>
          <a:xfrm>
            <a:off x="685800" y="1280160"/>
            <a:ext cx="10789920" cy="4088129"/>
          </a:xfrm>
          <a:prstGeom prst="rect">
            <a:avLst/>
          </a:prstGeom>
        </p:spPr>
      </p:pic>
      <p:sp>
        <p:nvSpPr>
          <p:cNvPr id="5" name="Text 2"/>
          <p:cNvSpPr txBox="1"/>
          <p:nvPr/>
        </p:nvSpPr>
        <p:spPr>
          <a:xfrm>
            <a:off x="457200" y="5440680"/>
            <a:ext cx="11247120" cy="411480"/>
          </a:xfrm>
          <a:prstGeom prst="rect">
            <a:avLst/>
          </a:prstGeom>
          <a:noFill/>
          <a:ln/>
        </p:spPr>
        <p:txBody>
          <a:bodyPr wrap="square" lIns="0" tIns="0" rIns="0" bIns="0" rtlCol="0" anchor="ctr"/>
          <a:lstStyle/>
          <a:p>
            <a:pPr algn="l" indent="0" marL="0">
              <a:buNone/>
            </a:pPr>
            <a:r>
              <a:rPr lang="en-US" sz="1800" dirty="0">
                <a:solidFill>
                  <a:schemeClr val="tx1"/>
                </a:solidFill>
              </a:rPr>
              <a:t>IIA accepts all four; the parameter count cannot separate the two coupling maps. </a:t>
            </a:r>
            <a:r>
              <a:rPr lang="en-US" sz="1800" b="1" dirty="0">
                <a:solidFill>
                  <a:schemeClr val="tx1"/>
                </a:solidFill>
              </a:rPr>
              <a:t>κ orders them, and the code follows.</a:t>
            </a:r>
            <a:endParaRPr lang="en-US" sz="1800" dirty="0"/>
          </a:p>
        </p:txBody>
      </p:sp>
      <p:sp>
        <p:nvSpPr>
          <p:cNvPr id="6" name="references"/>
          <p:cNvSpPr txBox="1"/>
          <p:nvPr/>
        </p:nvSpPr>
        <p:spPr>
          <a:xfrm>
            <a:off x="5120640" y="5806440"/>
            <a:ext cx="6629400" cy="822960"/>
          </a:xfrm>
          <a:prstGeom prst="rect">
            <a:avLst/>
          </a:prstGeom>
          <a:noFill/>
          <a:ln/>
        </p:spPr>
        <p:txBody>
          <a:bodyPr wrap="square" lIns="0" tIns="0" rIns="0" bIns="0" rtlCol="0" anchor="b"/>
          <a:lstStyle/>
          <a:p>
            <a:pPr algn="r" indent="0" marL="0">
              <a:buNone/>
            </a:pPr>
            <a:r>
              <a:rPr lang="en-US" sz="1100" dirty="0">
                <a:solidFill>
                  <a:schemeClr val="tx2"/>
                </a:solidFill>
              </a:rPr>
              <a:t>Jacobian lens: Gurnee et al., Transformer Circuits 2026</a:t>
            </a:r>
            <a:endParaRPr lang="en-US" sz="11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Fit or Occam: the learning cost carries the verdict</a:t>
            </a:r>
            <a:endParaRPr lang="en-US" sz="2800" dirty="0"/>
          </a:p>
        </p:txBody>
      </p:sp>
      <p:sp>
        <p:nvSpPr>
          <p:cNvPr id="3" name="learner tag plug"/>
          <p:cNvSpPr/>
          <p:nvPr/>
        </p:nvSpPr>
        <p:spPr>
          <a:xfrm>
            <a:off x="10088575" y="73152"/>
            <a:ext cx="1691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plug-in κ (MAP)</a:t>
            </a:r>
            <a:endParaRPr lang="en-US" sz="1100" dirty="0"/>
          </a:p>
        </p:txBody>
      </p:sp>
      <p:pic>
        <p:nvPicPr>
          <p:cNvPr id="4" name="figure gain_decomposition_slide.png" descr="gain_decomposition_slide.png">    </p:cNvPr>
          <p:cNvPicPr>
            <a:picLocks noChangeAspect="1"/>
          </p:cNvPicPr>
          <p:nvPr/>
        </p:nvPicPr>
        <p:blipFill>
          <a:blip r:embed="rId1"/>
          <a:stretch>
            <a:fillRect/>
          </a:stretch>
        </p:blipFill>
        <p:spPr>
          <a:xfrm>
            <a:off x="457200" y="1371600"/>
            <a:ext cx="11247120" cy="4370373"/>
          </a:xfrm>
          <a:prstGeom prst="rect">
            <a:avLst/>
          </a:prstGeom>
        </p:spPr>
      </p:pic>
      <p:sp>
        <p:nvSpPr>
          <p:cNvPr id="5" name="references"/>
          <p:cNvSpPr txBox="1"/>
          <p:nvPr/>
        </p:nvSpPr>
        <p:spPr>
          <a:xfrm>
            <a:off x="5120640" y="5806440"/>
            <a:ext cx="6629400" cy="822960"/>
          </a:xfrm>
          <a:prstGeom prst="rect">
            <a:avLst/>
          </a:prstGeom>
          <a:noFill/>
          <a:ln/>
        </p:spPr>
        <p:txBody>
          <a:bodyPr wrap="square" lIns="0" tIns="0" rIns="0" bIns="0" rtlCol="0" anchor="b"/>
          <a:lstStyle/>
          <a:p>
            <a:pPr algn="r" indent="0" marL="0">
              <a:buNone/>
            </a:pPr>
            <a:r>
              <a:rPr lang="en-US" sz="1100" dirty="0">
                <a:solidFill>
                  <a:schemeClr val="tx2"/>
                </a:solidFill>
              </a:rPr>
              <a:t>Free-energy expansion: Watanabe 2009</a:t>
            </a:r>
            <a:endParaRPr lang="en-US" sz="1100" dirty="0"/>
          </a:p>
          <a:p>
            <a:pPr algn="r" indent="0" marL="0">
              <a:buNone/>
            </a:pPr>
            <a:r>
              <a:rPr lang="en-US" sz="1100" dirty="0">
                <a:solidFill>
                  <a:schemeClr val="tx2"/>
                </a:solidFill>
              </a:rPr>
              <a:t>Coupling-map alignments: Sutter et al., NeurIPS 2025</a:t>
            </a:r>
            <a:endParaRPr lang="en-US" sz="11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κ is not λ: the plug-in pays for Fisher-weighted directions</a:t>
            </a:r>
            <a:endParaRPr lang="en-US" sz="2800" dirty="0"/>
          </a:p>
        </p:txBody>
      </p:sp>
      <p:sp>
        <p:nvSpPr>
          <p:cNvPr id="3" name="learner tag bayes"/>
          <p:cNvSpPr/>
          <p:nvPr/>
        </p:nvSpPr>
        <p:spPr>
          <a:xfrm>
            <a:off x="10820095" y="73152"/>
            <a:ext cx="96012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Bayes λ</a:t>
            </a:r>
            <a:endParaRPr lang="en-US" sz="1100" dirty="0"/>
          </a:p>
        </p:txBody>
      </p:sp>
      <p:sp>
        <p:nvSpPr>
          <p:cNvPr id="4" name="learner tag plug"/>
          <p:cNvSpPr/>
          <p:nvPr/>
        </p:nvSpPr>
        <p:spPr>
          <a:xfrm>
            <a:off x="9018727" y="73152"/>
            <a:ext cx="1691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plug-in κ (MAP)</a:t>
            </a:r>
            <a:endParaRPr lang="en-US" sz="1100" dirty="0"/>
          </a:p>
        </p:txBody>
      </p:sp>
      <p:pic>
        <p:nvPicPr>
          <p:cNvPr id="5" name="figure kappa_lambda_panels.png" descr="kappa_lambda_panels.png">    </p:cNvPr>
          <p:cNvPicPr>
            <a:picLocks noChangeAspect="1"/>
          </p:cNvPicPr>
          <p:nvPr/>
        </p:nvPicPr>
        <p:blipFill>
          <a:blip r:embed="rId1"/>
          <a:stretch>
            <a:fillRect/>
          </a:stretch>
        </p:blipFill>
        <p:spPr>
          <a:xfrm>
            <a:off x="724322" y="1188720"/>
            <a:ext cx="10743052" cy="4846320"/>
          </a:xfrm>
          <a:prstGeom prst="rect">
            <a:avLst/>
          </a:prstGeom>
        </p:spPr>
      </p:pic>
      <p:sp>
        <p:nvSpPr>
          <p:cNvPr id="6" name="references"/>
          <p:cNvSpPr txBox="1"/>
          <p:nvPr/>
        </p:nvSpPr>
        <p:spPr>
          <a:xfrm>
            <a:off x="5120640" y="5806440"/>
            <a:ext cx="6629400" cy="822960"/>
          </a:xfrm>
          <a:prstGeom prst="rect">
            <a:avLst/>
          </a:prstGeom>
          <a:noFill/>
          <a:ln/>
        </p:spPr>
        <p:txBody>
          <a:bodyPr wrap="square" lIns="0" tIns="0" rIns="0" bIns="0" rtlCol="0" anchor="b"/>
          <a:lstStyle/>
          <a:p>
            <a:pPr algn="r" indent="0" marL="0">
              <a:buNone/>
            </a:pPr>
            <a:r>
              <a:rPr lang="en-US" sz="1100" dirty="0">
                <a:solidFill>
                  <a:schemeClr val="tx2"/>
                </a:solidFill>
              </a:rPr>
              <a:t>½ tr(F H⁻¹): Takeuchi 1976; White 1982 · λ: Watanabe 2009</a:t>
            </a:r>
            <a:endParaRPr lang="en-US" sz="1100" dirty="0"/>
          </a:p>
          <a:p>
            <a:pPr algn="r" indent="0" marL="0">
              <a:buNone/>
            </a:pPr>
            <a:r>
              <a:rPr lang="en-US" sz="1100" dirty="0">
                <a:solidFill>
                  <a:schemeClr val="tx2"/>
                </a:solidFill>
              </a:rPr>
              <a:t>LLC: Lau et al., AISTATS 2025</a:t>
            </a:r>
            <a:endParaRPr lang="en-US" sz="11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731520" y="914400"/>
            <a:ext cx="10698480" cy="109728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Thank you</a:t>
            </a:r>
            <a:endParaRPr lang="en-US" sz="5400" dirty="0"/>
          </a:p>
        </p:txBody>
      </p:sp>
      <p:sp>
        <p:nvSpPr>
          <p:cNvPr id="3" name="Text 1"/>
          <p:cNvSpPr txBox="1"/>
          <p:nvPr/>
        </p:nvSpPr>
        <p:spPr>
          <a:xfrm>
            <a:off x="731520" y="2286000"/>
            <a:ext cx="6949440" cy="1188720"/>
          </a:xfrm>
          <a:prstGeom prst="rect">
            <a:avLst/>
          </a:prstGeom>
          <a:noFill/>
          <a:ln/>
        </p:spPr>
        <p:txBody>
          <a:bodyPr wrap="square" lIns="0" tIns="0" rIns="0" bIns="0" rtlCol="0" anchor="t"/>
          <a:lstStyle/>
          <a:p>
            <a:pPr indent="0" marL="0">
              <a:buNone/>
            </a:pPr>
            <a:r>
              <a:rPr lang="en-US" sz="2600" dirty="0">
                <a:solidFill>
                  <a:schemeClr val="bg2"/>
                </a:solidFill>
              </a:rPr>
              <a:t>Let's talk: about ideas, open questions, or a mistake you want to yell at me about.</a:t>
            </a:r>
            <a:endParaRPr lang="en-US" sz="2600" dirty="0"/>
          </a:p>
        </p:txBody>
      </p:sp>
      <p:sp>
        <p:nvSpPr>
          <p:cNvPr id="4" name="contact"/>
          <p:cNvSpPr txBox="1"/>
          <p:nvPr/>
        </p:nvSpPr>
        <p:spPr>
          <a:xfrm>
            <a:off x="731520" y="4023360"/>
            <a:ext cx="6949440" cy="1645920"/>
          </a:xfrm>
          <a:prstGeom prst="rect">
            <a:avLst/>
          </a:prstGeom>
          <a:noFill/>
          <a:ln/>
        </p:spPr>
        <p:txBody>
          <a:bodyPr wrap="square" lIns="0" tIns="0" rIns="0" bIns="0" rtlCol="0" anchor="t"/>
          <a:lstStyle/>
          <a:p>
            <a:pPr indent="0" marL="0">
              <a:buNone/>
            </a:pPr>
            <a:r>
              <a:rPr lang="en-US" sz="2000" b="1" dirty="0">
                <a:solidFill>
                  <a:schemeClr val="bg1"/>
                </a:solidFill>
              </a:rPr>
              <a:t>Sven Heydenreich</a:t>
            </a:r>
            <a:endParaRPr lang="en-US" sz="2000" dirty="0"/>
          </a:p>
          <a:p>
            <a:pPr indent="0" marL="0">
              <a:buNone/>
            </a:pPr>
            <a:r>
              <a:rPr lang="en-US" sz="1700" dirty="0">
                <a:solidFill>
                  <a:schemeClr val="bg2"/>
                </a:solidFill>
              </a:rPr>
              <a:t>Laboratory of Data Engineering, AREA Science Park</a:t>
            </a:r>
            <a:endParaRPr lang="en-US" sz="2000" dirty="0"/>
          </a:p>
          <a:p>
            <a:pPr indent="0" marL="0">
              <a:buNone/>
            </a:pPr>
            <a:r>
              <a:rPr lang="en-US" sz="1700" dirty="0">
                <a:solidFill>
                  <a:srgbClr val="8C93A3"/>
                </a:solidFill>
              </a:rPr>
              <a:t>[email]</a:t>
            </a:r>
            <a:endParaRPr lang="en-US" sz="2000" dirty="0"/>
          </a:p>
          <a:p>
            <a:pPr indent="0" marL="0">
              <a:buNone/>
            </a:pPr>
            <a:r>
              <a:rPr lang="en-US" sz="1700" dirty="0">
                <a:solidFill>
                  <a:srgbClr val="8C93A3"/>
                </a:solidFill>
              </a:rPr>
              <a:t>[website]</a:t>
            </a:r>
            <a:endParaRPr lang="en-US" sz="2000" dirty="0"/>
          </a:p>
        </p:txBody>
      </p:sp>
      <p:sp>
        <p:nvSpPr>
          <p:cNvPr id="5" name="slides link space"/>
          <p:cNvSpPr/>
          <p:nvPr/>
        </p:nvSpPr>
        <p:spPr>
          <a:xfrm>
            <a:off x="8595360" y="2286000"/>
            <a:ext cx="2834640" cy="2834640"/>
          </a:xfrm>
          <a:prstGeom prst="roundRect">
            <a:avLst>
              <a:gd name="adj" fmla="val 2581"/>
            </a:avLst>
          </a:prstGeom>
          <a:ln w="19050">
            <a:solidFill>
              <a:srgbClr val="5A6275"/>
            </a:solidFill>
            <a:prstDash val="dash"/>
          </a:ln>
        </p:spPr>
        <p:txBody>
          <a:bodyPr wrap="square" lIns="101600" tIns="101600" rIns="101600" bIns="101600" rtlCol="0" anchor="ctr"/>
          <a:lstStyle/>
          <a:p>
            <a:pPr algn="ctr" indent="0" marL="0">
              <a:buNone/>
            </a:pPr>
            <a:r>
              <a:rPr lang="en-US" sz="1400" dirty="0">
                <a:solidFill>
                  <a:srgbClr val="8C93A3"/>
                </a:solidFill>
              </a:rPr>
              <a:t>[QR code or link to the slides]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lIns="0" tIns="0" rIns="0" bIns="0"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Backup</a:t>
            </a:r>
            <a:endParaRPr lang="en-US" sz="4000" dirty="0"/>
          </a:p>
        </p:txBody>
      </p:sp>
      <p:sp>
        <p:nvSpPr>
          <p:cNvPr id="3" name="Text 0"/>
          <p:cNvSpPr/>
          <p:nvPr>
            <p:ph idx="101" type="body" hasCustomPrompt="1"/>
          </p:nvPr>
        </p:nvSpPr>
        <p:spPr>
          <a:xfrm>
            <a:off x="731520" y="3611880"/>
            <a:ext cx="10058400" cy="914400"/>
          </a:xfrm>
          <a:prstGeom prst="rect">
            <a:avLst/>
          </a:prstGeom>
          <a:noFill/>
          <a:ln/>
        </p:spPr>
        <p:txBody>
          <a:bodyPr wrap="square" lIns="0" tIns="0" rIns="0" bIns="0" rtlCol="0" anchor="t"/>
          <a:lstStyle/>
          <a:p>
            <a:pPr indent="0" marL="0">
              <a:buNone/>
            </a:pPr>
            <a:r>
              <a:rPr lang="en-US" sz="2000" dirty="0">
                <a:solidFill>
                  <a:schemeClr val="bg2"/>
                </a:solidFill>
                <a:latin typeface="Calibri" pitchFamily="34" charset="0"/>
                <a:ea typeface="Calibri" pitchFamily="34" charset="-122"/>
                <a:cs typeface="Calibri" pitchFamily="34" charset="-120"/>
              </a:rPr>
              <a:t>The score in detail · observed label law · the two coefficients · exact and oracle checks · Bayes codes · fit and regret, calibrated · large n · four language models · Jacobian lens · learner dependence · Pythia · SGLD LLC · questions for SLT</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The score: prequential code length of counterfactual targets</a:t>
            </a:r>
            <a:endParaRPr lang="en-US" sz="2800" dirty="0"/>
          </a:p>
        </p:txBody>
      </p:sp>
      <p:sp>
        <p:nvSpPr>
          <p:cNvPr id="3" name="Text 1"/>
          <p:cNvSpPr/>
          <p:nvPr/>
        </p:nvSpPr>
        <p:spPr>
          <a:xfrm>
            <a:off x="457200" y="1417320"/>
            <a:ext cx="2194560" cy="868680"/>
          </a:xfrm>
          <a:prstGeom prst="roundRect">
            <a:avLst>
              <a:gd name="adj" fmla="val 8421"/>
            </a:avLst>
          </a:prstGeom>
          <a:solidFill>
            <a:schemeClr val="bg2"/>
          </a:solidFill>
          <a:ln>
            <a:solidFill>
              <a:schemeClr val="bg2"/>
            </a:solidFill>
          </a:ln>
        </p:spPr>
        <p:txBody>
          <a:bodyPr wrap="square" lIns="50800" tIns="50800" rIns="50800" bIns="50800" rtlCol="0" anchor="ctr"/>
          <a:lstStyle/>
          <a:p>
            <a:pPr algn="ctr" indent="0" marL="0">
              <a:buNone/>
            </a:pPr>
            <a:r>
              <a:rPr lang="en-US" sz="1400" dirty="0">
                <a:solidFill>
                  <a:schemeClr val="tx1"/>
                </a:solidFill>
              </a:rPr>
              <a:t>pair of inputs</a:t>
            </a:r>
            <a:endParaRPr lang="en-US" sz="1400" dirty="0"/>
          </a:p>
          <a:p>
            <a:pPr algn="ctr" indent="0" marL="0">
              <a:buNone/>
            </a:pPr>
            <a:r>
              <a:rPr lang="en-US" sz="1400" dirty="0">
                <a:solidFill>
                  <a:schemeClr val="tx1"/>
                </a:solidFill>
              </a:rPr>
              <a:t>(base b, source s)</a:t>
            </a:r>
            <a:endParaRPr lang="en-US" sz="1400" dirty="0"/>
          </a:p>
        </p:txBody>
      </p:sp>
      <p:sp>
        <p:nvSpPr>
          <p:cNvPr id="4" name="Text 2"/>
          <p:cNvSpPr/>
          <p:nvPr/>
        </p:nvSpPr>
        <p:spPr>
          <a:xfrm>
            <a:off x="3108960" y="1417320"/>
            <a:ext cx="2743200" cy="868680"/>
          </a:xfrm>
          <a:prstGeom prst="roundRect">
            <a:avLst>
              <a:gd name="adj" fmla="val 8421"/>
            </a:avLst>
          </a:prstGeom>
          <a:solidFill>
            <a:schemeClr val="bg2"/>
          </a:solidFill>
          <a:ln>
            <a:solidFill>
              <a:schemeClr val="bg2"/>
            </a:solidFill>
          </a:ln>
        </p:spPr>
        <p:txBody>
          <a:bodyPr wrap="square" lIns="50800" tIns="50800" rIns="50800" bIns="50800" rtlCol="0" anchor="ctr"/>
          <a:lstStyle/>
          <a:p>
            <a:pPr algn="ctr" indent="0" marL="0">
              <a:buNone/>
            </a:pPr>
            <a:r>
              <a:rPr lang="en-US" sz="1400" dirty="0">
                <a:solidFill>
                  <a:schemeClr val="tx1"/>
                </a:solidFill>
              </a:rPr>
              <a:t>algorithm's counterfactual</a:t>
            </a:r>
            <a:endParaRPr lang="en-US" sz="1400" dirty="0"/>
          </a:p>
          <a:p>
            <a:pPr algn="ctr" indent="0" marL="0">
              <a:buNone/>
            </a:pPr>
            <a:r>
              <a:rPr lang="en-US" sz="1400" dirty="0">
                <a:solidFill>
                  <a:schemeClr val="tx1"/>
                </a:solidFill>
              </a:rPr>
              <a:t>y* = A(b; V ← V(s))</a:t>
            </a:r>
            <a:endParaRPr lang="en-US" sz="1400" dirty="0"/>
          </a:p>
        </p:txBody>
      </p:sp>
      <p:sp>
        <p:nvSpPr>
          <p:cNvPr id="5" name="Text 3"/>
          <p:cNvSpPr/>
          <p:nvPr/>
        </p:nvSpPr>
        <p:spPr>
          <a:xfrm>
            <a:off x="6309360" y="1417320"/>
            <a:ext cx="2377440" cy="868680"/>
          </a:xfrm>
          <a:prstGeom prst="roundRect">
            <a:avLst>
              <a:gd name="adj" fmla="val 8421"/>
            </a:avLst>
          </a:prstGeom>
          <a:solidFill>
            <a:schemeClr val="bg2"/>
          </a:solidFill>
          <a:ln>
            <a:solidFill>
              <a:schemeClr val="bg2"/>
            </a:solidFill>
          </a:ln>
        </p:spPr>
        <p:txBody>
          <a:bodyPr wrap="square" lIns="50800" tIns="50800" rIns="50800" bIns="50800" rtlCol="0" anchor="ctr"/>
          <a:lstStyle/>
          <a:p>
            <a:pPr algn="ctr" indent="0" marL="0">
              <a:buNone/>
            </a:pPr>
            <a:r>
              <a:rPr lang="en-US" sz="1400" dirty="0">
                <a:solidFill>
                  <a:schemeClr val="tx1"/>
                </a:solidFill>
              </a:rPr>
              <a:t>randomized response</a:t>
            </a:r>
            <a:endParaRPr lang="en-US" sz="1400" dirty="0"/>
          </a:p>
          <a:p>
            <a:pPr algn="ctr" indent="0" marL="0">
              <a:buNone/>
            </a:pPr>
            <a:r>
              <a:rPr lang="en-US" sz="1400" dirty="0">
                <a:solidFill>
                  <a:schemeClr val="tx1"/>
                </a:solidFill>
              </a:rPr>
              <a:t>ε = 0.05 → label y</a:t>
            </a:r>
            <a:endParaRPr lang="en-US" sz="1400" dirty="0"/>
          </a:p>
        </p:txBody>
      </p:sp>
      <p:sp>
        <p:nvSpPr>
          <p:cNvPr id="6" name="Shape 4"/>
          <p:cNvSpPr/>
          <p:nvPr/>
        </p:nvSpPr>
        <p:spPr>
          <a:xfrm>
            <a:off x="2651760" y="1847088"/>
            <a:ext cx="457200" cy="0"/>
          </a:xfrm>
          <a:prstGeom prst="line">
            <a:avLst/>
          </a:prstGeom>
          <a:noFill/>
          <a:ln w="22225">
            <a:solidFill>
              <a:srgbClr val="52514E"/>
            </a:solidFill>
            <a:prstDash val="solid"/>
            <a:tailEnd type="triangle"/>
          </a:ln>
        </p:spPr>
      </p:sp>
      <p:sp>
        <p:nvSpPr>
          <p:cNvPr id="7" name="Shape 5"/>
          <p:cNvSpPr/>
          <p:nvPr/>
        </p:nvSpPr>
        <p:spPr>
          <a:xfrm>
            <a:off x="5852160" y="1847088"/>
            <a:ext cx="457200" cy="0"/>
          </a:xfrm>
          <a:prstGeom prst="line">
            <a:avLst/>
          </a:prstGeom>
          <a:noFill/>
          <a:ln w="22225">
            <a:solidFill>
              <a:srgbClr val="52514E"/>
            </a:solidFill>
            <a:prstDash val="solid"/>
            <a:tailEnd type="triangle"/>
          </a:ln>
        </p:spPr>
      </p:sp>
      <p:sp>
        <p:nvSpPr>
          <p:cNvPr id="8" name="Text 6"/>
          <p:cNvSpPr/>
          <p:nvPr/>
        </p:nvSpPr>
        <p:spPr>
          <a:xfrm>
            <a:off x="457200" y="2788920"/>
            <a:ext cx="2194560" cy="868680"/>
          </a:xfrm>
          <a:prstGeom prst="roundRect">
            <a:avLst>
              <a:gd name="adj" fmla="val 8421"/>
            </a:avLst>
          </a:prstGeom>
          <a:solidFill>
            <a:schemeClr val="bg2"/>
          </a:solidFill>
          <a:ln>
            <a:solidFill>
              <a:schemeClr val="bg2"/>
            </a:solidFill>
          </a:ln>
        </p:spPr>
        <p:txBody>
          <a:bodyPr wrap="square" lIns="50800" tIns="50800" rIns="50800" bIns="50800" rtlCol="0" anchor="ctr"/>
          <a:lstStyle/>
          <a:p>
            <a:pPr algn="ctr" indent="0" marL="0">
              <a:buNone/>
            </a:pPr>
            <a:r>
              <a:rPr lang="en-US" sz="1400" dirty="0">
                <a:solidFill>
                  <a:schemeClr val="tx1"/>
                </a:solidFill>
              </a:rPr>
              <a:t>network N, locus ℓ</a:t>
            </a:r>
            <a:endParaRPr lang="en-US" sz="1400" dirty="0"/>
          </a:p>
          <a:p>
            <a:pPr algn="ctr" indent="0" marL="0">
              <a:buNone/>
            </a:pPr>
            <a:r>
              <a:rPr lang="en-US" sz="1400" dirty="0">
                <a:solidFill>
                  <a:schemeClr val="tx1"/>
                </a:solidFill>
              </a:rPr>
              <a:t>map φ fitted on prefix</a:t>
            </a:r>
            <a:endParaRPr lang="en-US" sz="1400" dirty="0"/>
          </a:p>
        </p:txBody>
      </p:sp>
      <p:sp>
        <p:nvSpPr>
          <p:cNvPr id="9" name="Text 7"/>
          <p:cNvSpPr/>
          <p:nvPr/>
        </p:nvSpPr>
        <p:spPr>
          <a:xfrm>
            <a:off x="3108960" y="2788920"/>
            <a:ext cx="2743200" cy="868680"/>
          </a:xfrm>
          <a:prstGeom prst="roundRect">
            <a:avLst>
              <a:gd name="adj" fmla="val 8421"/>
            </a:avLst>
          </a:prstGeom>
          <a:solidFill>
            <a:schemeClr val="bg2"/>
          </a:solidFill>
          <a:ln>
            <a:solidFill>
              <a:schemeClr val="bg2"/>
            </a:solidFill>
          </a:ln>
        </p:spPr>
        <p:txBody>
          <a:bodyPr wrap="square" lIns="50800" tIns="50800" rIns="50800" bIns="50800" rtlCol="0" anchor="ctr"/>
          <a:lstStyle/>
          <a:p>
            <a:pPr algn="ctr" indent="0" marL="0">
              <a:buNone/>
            </a:pPr>
            <a:r>
              <a:rPr lang="en-US" sz="1400" dirty="0">
                <a:solidFill>
                  <a:schemeClr val="tx1"/>
                </a:solidFill>
              </a:rPr>
              <a:t>interchange: aligned part</a:t>
            </a:r>
            <a:endParaRPr lang="en-US" sz="1400" dirty="0"/>
          </a:p>
          <a:p>
            <a:pPr algn="ctr" indent="0" marL="0">
              <a:buNone/>
            </a:pPr>
            <a:r>
              <a:rPr lang="en-US" sz="1400" dirty="0">
                <a:solidFill>
                  <a:schemeClr val="tx1"/>
                </a:solidFill>
              </a:rPr>
              <a:t>of h_ℓ(b) ← that of h_ℓ(s)</a:t>
            </a:r>
            <a:endParaRPr lang="en-US" sz="1400" dirty="0"/>
          </a:p>
        </p:txBody>
      </p:sp>
      <p:sp>
        <p:nvSpPr>
          <p:cNvPr id="10" name="Text 8"/>
          <p:cNvSpPr/>
          <p:nvPr/>
        </p:nvSpPr>
        <p:spPr>
          <a:xfrm>
            <a:off x="6309360" y="2788920"/>
            <a:ext cx="2377440" cy="868680"/>
          </a:xfrm>
          <a:prstGeom prst="roundRect">
            <a:avLst>
              <a:gd name="adj" fmla="val 8421"/>
            </a:avLst>
          </a:prstGeom>
          <a:solidFill>
            <a:schemeClr val="bg2"/>
          </a:solidFill>
          <a:ln>
            <a:solidFill>
              <a:schemeClr val="bg2"/>
            </a:solidFill>
          </a:ln>
        </p:spPr>
        <p:txBody>
          <a:bodyPr wrap="square" lIns="50800" tIns="50800" rIns="50800" bIns="50800" rtlCol="0" anchor="ctr"/>
          <a:lstStyle/>
          <a:p>
            <a:pPr algn="ctr" indent="0" marL="0">
              <a:buNone/>
            </a:pPr>
            <a:r>
              <a:rPr lang="en-US" sz="1400" dirty="0">
                <a:solidFill>
                  <a:schemeClr val="tx1"/>
                </a:solidFill>
              </a:rPr>
              <a:t>frozen readout</a:t>
            </a:r>
            <a:endParaRPr lang="en-US" sz="1400" dirty="0"/>
          </a:p>
          <a:p>
            <a:pPr algn="ctr" indent="0" marL="0">
              <a:buNone/>
            </a:pPr>
            <a:r>
              <a:rPr lang="en-US" sz="1400" dirty="0">
                <a:solidFill>
                  <a:schemeClr val="tx1"/>
                </a:solidFill>
              </a:rPr>
              <a:t>p(y | b, s)</a:t>
            </a:r>
            <a:endParaRPr lang="en-US" sz="1400" dirty="0"/>
          </a:p>
        </p:txBody>
      </p:sp>
      <p:sp>
        <p:nvSpPr>
          <p:cNvPr id="11" name="Shape 9"/>
          <p:cNvSpPr/>
          <p:nvPr/>
        </p:nvSpPr>
        <p:spPr>
          <a:xfrm>
            <a:off x="2651760" y="3218688"/>
            <a:ext cx="457200" cy="0"/>
          </a:xfrm>
          <a:prstGeom prst="line">
            <a:avLst/>
          </a:prstGeom>
          <a:noFill/>
          <a:ln w="22225">
            <a:solidFill>
              <a:srgbClr val="52514E"/>
            </a:solidFill>
            <a:prstDash val="solid"/>
            <a:tailEnd type="triangle"/>
          </a:ln>
        </p:spPr>
      </p:sp>
      <p:sp>
        <p:nvSpPr>
          <p:cNvPr id="12" name="Shape 10"/>
          <p:cNvSpPr/>
          <p:nvPr/>
        </p:nvSpPr>
        <p:spPr>
          <a:xfrm>
            <a:off x="5852160" y="3218688"/>
            <a:ext cx="457200" cy="0"/>
          </a:xfrm>
          <a:prstGeom prst="line">
            <a:avLst/>
          </a:prstGeom>
          <a:noFill/>
          <a:ln w="22225">
            <a:solidFill>
              <a:srgbClr val="52514E"/>
            </a:solidFill>
            <a:prstDash val="solid"/>
            <a:tailEnd type="triangle"/>
          </a:ln>
        </p:spPr>
      </p:sp>
      <p:sp>
        <p:nvSpPr>
          <p:cNvPr id="13" name="Shape 11"/>
          <p:cNvSpPr/>
          <p:nvPr/>
        </p:nvSpPr>
        <p:spPr>
          <a:xfrm>
            <a:off x="7498080" y="2286000"/>
            <a:ext cx="0" cy="502920"/>
          </a:xfrm>
          <a:prstGeom prst="line">
            <a:avLst/>
          </a:prstGeom>
          <a:noFill/>
          <a:ln w="22225">
            <a:solidFill>
              <a:srgbClr val="52514E"/>
            </a:solidFill>
            <a:prstDash val="solid"/>
            <a:tailEnd type="triangle"/>
          </a:ln>
        </p:spPr>
      </p:sp>
      <p:sp>
        <p:nvSpPr>
          <p:cNvPr id="14" name="formula"/>
          <p:cNvSpPr txBox="1"/>
          <p:nvPr/>
        </p:nvSpPr>
        <p:spPr>
          <a:xfrm>
            <a:off x="457200" y="3931920"/>
            <a:ext cx="8229600" cy="731520"/>
          </a:xfrm>
          <a:prstGeom prst="rect">
            <a:avLst/>
          </a:prstGeom>
          <a:noFill/>
          <a:ln/>
        </p:spPr>
        <p:txBody>
          <a:bodyPr wrap="square" lIns="0" tIns="0" rIns="0" bIns="0" rtlCol="0" anchor="ctr"/>
          <a:lstStyle/>
          <a:p>
            <a:pPr algn="ctr" indent="0" marL="0">
              <a:buNone/>
            </a:pPr>
            <a:r>
              <a:rPr lang="en-US" sz="2600" i="1" dirty="0">
                <a:solidFill>
                  <a:schemeClr val="tx1"/>
                </a:solidFill>
                <a:latin typeface="Cambria" pitchFamily="34" charset="0"/>
                <a:ea typeface="Cambria" pitchFamily="34" charset="-122"/>
                <a:cs typeface="Cambria" pitchFamily="34" charset="-120"/>
              </a:rPr>
              <a:t>DL(n) = Σᵢ −log₂ p</a:t>
            </a:r>
            <a:r>
              <a:rPr lang="en-US" sz="2600" i="1" baseline="-40000" dirty="0">
                <a:solidFill>
                  <a:schemeClr val="tx1"/>
                </a:solidFill>
                <a:latin typeface="Cambria" pitchFamily="34" charset="0"/>
                <a:ea typeface="Cambria" pitchFamily="34" charset="-122"/>
                <a:cs typeface="Cambria" pitchFamily="34" charset="-120"/>
              </a:rPr>
              <a:t>θ̂(i−1)</a:t>
            </a:r>
            <a:r>
              <a:rPr lang="en-US" sz="2600" i="1" dirty="0">
                <a:solidFill>
                  <a:schemeClr val="tx1"/>
                </a:solidFill>
                <a:latin typeface="Cambria" pitchFamily="34" charset="0"/>
                <a:ea typeface="Cambria" pitchFamily="34" charset="-122"/>
                <a:cs typeface="Cambria" pitchFamily="34" charset="-120"/>
              </a:rPr>
              <a:t>(yᵢ | bᵢ, sᵢ)</a:t>
            </a:r>
            <a:endParaRPr lang="en-US" sz="2600" dirty="0"/>
          </a:p>
        </p:txBody>
      </p:sp>
      <p:sp>
        <p:nvSpPr>
          <p:cNvPr id="15" name="Text 13"/>
          <p:cNvSpPr txBox="1"/>
          <p:nvPr/>
        </p:nvSpPr>
        <p:spPr>
          <a:xfrm>
            <a:off x="457200" y="4663440"/>
            <a:ext cx="8229600" cy="365760"/>
          </a:xfrm>
          <a:prstGeom prst="rect">
            <a:avLst/>
          </a:prstGeom>
          <a:noFill/>
          <a:ln/>
        </p:spPr>
        <p:txBody>
          <a:bodyPr wrap="square" lIns="0" tIns="0" rIns="0" bIns="0" rtlCol="0" anchor="ctr"/>
          <a:lstStyle/>
          <a:p>
            <a:pPr algn="ctr" indent="0" marL="0">
              <a:buNone/>
            </a:pPr>
            <a:r>
              <a:rPr lang="en-US" sz="1400" i="1" dirty="0">
                <a:solidFill>
                  <a:schemeClr val="tx2"/>
                </a:solidFill>
              </a:rPr>
              <a:t>each target is coded before it is used for fitting: a family that can fit anything compresses nothing</a:t>
            </a:r>
            <a:endParaRPr lang="en-US" sz="1400" dirty="0"/>
          </a:p>
        </p:txBody>
      </p:sp>
      <p:sp>
        <p:nvSpPr>
          <p:cNvPr id="16" name="card Controls, same targets"/>
          <p:cNvSpPr/>
          <p:nvPr/>
        </p:nvSpPr>
        <p:spPr>
          <a:xfrm>
            <a:off x="9052560" y="1417320"/>
            <a:ext cx="2743200" cy="4206240"/>
          </a:xfrm>
          <a:prstGeom prst="roundRect">
            <a:avLst>
              <a:gd name="adj" fmla="val 2667"/>
            </a:avLst>
          </a:prstGeom>
          <a:solidFill>
            <a:schemeClr val="bg2"/>
          </a:solidFill>
          <a:ln w="12700">
            <a:solidFill>
              <a:schemeClr val="bg2"/>
            </a:solidFill>
            <a:prstDash val="solid"/>
          </a:ln>
        </p:spPr>
      </p:sp>
      <p:sp>
        <p:nvSpPr>
          <p:cNvPr id="17" name="Text 15"/>
          <p:cNvSpPr txBox="1"/>
          <p:nvPr/>
        </p:nvSpPr>
        <p:spPr>
          <a:xfrm>
            <a:off x="9235440" y="1527048"/>
            <a:ext cx="2377440" cy="41148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Controls, same targets</a:t>
            </a:r>
            <a:endParaRPr lang="en-US" sz="1700" dirty="0"/>
          </a:p>
        </p:txBody>
      </p:sp>
      <p:sp>
        <p:nvSpPr>
          <p:cNvPr id="18" name="Text 16"/>
          <p:cNvSpPr txBox="1"/>
          <p:nvPr/>
        </p:nvSpPr>
        <p:spPr>
          <a:xfrm>
            <a:off x="9235440" y="1965960"/>
            <a:ext cx="2377440" cy="3566160"/>
          </a:xfrm>
          <a:prstGeom prst="rect">
            <a:avLst/>
          </a:prstGeom>
          <a:noFill/>
          <a:ln/>
        </p:spPr>
        <p:txBody>
          <a:bodyPr wrap="square" lIns="0" tIns="0" rIns="0" bIns="0" rtlCol="0" anchor="t"/>
          <a:lstStyle/>
          <a:p>
            <a:pPr indent="0" marL="0">
              <a:spcAft>
                <a:spcPts val="800"/>
              </a:spcAft>
              <a:buNone/>
            </a:pPr>
            <a:r>
              <a:rPr lang="en-US" sz="1400" b="1" dirty="0">
                <a:solidFill>
                  <a:schemeClr val="tx1"/>
                </a:solidFill>
              </a:rPr>
              <a:t>label-only</a:t>
            </a:r>
            <a:r>
              <a:rPr lang="en-US" sz="1400" dirty="0">
                <a:solidFill>
                  <a:schemeClr val="tx1"/>
                </a:solidFill>
              </a:rPr>
              <a:t> (Laplace's rule, sees neither net nor algorithm)</a:t>
            </a:r>
            <a:endParaRPr lang="en-US" sz="1400" dirty="0"/>
          </a:p>
          <a:p>
            <a:pPr indent="0" marL="0">
              <a:spcAft>
                <a:spcPts val="800"/>
              </a:spcAft>
              <a:buNone/>
            </a:pPr>
            <a:r>
              <a:rPr lang="en-US" sz="1400" b="1" dirty="0">
                <a:solidFill>
                  <a:schemeClr val="tx1"/>
                </a:solidFill>
              </a:rPr>
              <a:t>untrained twin</a:t>
            </a:r>
            <a:r>
              <a:rPr lang="en-US" sz="1400" dirty="0">
                <a:solidFill>
                  <a:schemeClr val="tx1"/>
                </a:solidFill>
              </a:rPr>
              <a:t> (same architecture, random weights)</a:t>
            </a:r>
            <a:endParaRPr lang="en-US" sz="1400" dirty="0"/>
          </a:p>
          <a:p>
            <a:pPr indent="0" marL="0">
              <a:spcAft>
                <a:spcPts val="800"/>
              </a:spcAft>
              <a:buNone/>
            </a:pPr>
            <a:r>
              <a:rPr lang="en-US" sz="1400" b="1" dirty="0">
                <a:solidFill>
                  <a:schemeClr val="tx1"/>
                </a:solidFill>
              </a:rPr>
              <a:t>wrong locus</a:t>
            </a:r>
            <a:r>
              <a:rPr lang="en-US" sz="1400" dirty="0">
                <a:solidFill>
                  <a:schemeClr val="tx1"/>
                </a:solidFill>
              </a:rPr>
              <a:t> (lowest attainable IIA)</a:t>
            </a:r>
            <a:endParaRPr lang="en-US" sz="1400" dirty="0"/>
          </a:p>
          <a:p>
            <a:pPr indent="0" marL="0">
              <a:spcAft>
                <a:spcPts val="800"/>
              </a:spcAft>
              <a:buNone/>
            </a:pPr>
            <a:r>
              <a:rPr lang="en-US" sz="1400" b="1" dirty="0">
                <a:solidFill>
                  <a:schemeClr val="tx1"/>
                </a:solidFill>
              </a:rPr>
              <a:t>other map family</a:t>
            </a:r>
            <a:r>
              <a:rPr lang="en-US" sz="1400" dirty="0">
                <a:solidFill>
                  <a:schemeClr val="tx1"/>
                </a:solidFill>
              </a:rPr>
              <a:t> (coupling flow)</a:t>
            </a:r>
            <a:endParaRPr lang="en-US" sz="1400" dirty="0"/>
          </a:p>
          <a:p>
            <a:pPr indent="0" marL="0">
              <a:spcAft>
                <a:spcPts val="800"/>
              </a:spcAft>
              <a:buNone/>
            </a:pPr>
            <a:r>
              <a:rPr lang="en-US" sz="1400" dirty="0">
                <a:solidFill>
                  <a:schemeClr val="tx1"/>
                </a:solidFill>
              </a:rPr>
              <a:t>Gain = DL(control) − DL(hyp.) = running log Bayes factor (an e-process against the control).</a:t>
            </a:r>
            <a:endParaRPr lang="en-US" sz="1400" dirty="0"/>
          </a:p>
        </p:txBody>
      </p:sp>
      <p:sp>
        <p:nvSpPr>
          <p:cNvPr id="19" name="Text 17"/>
          <p:cNvSpPr txBox="1"/>
          <p:nvPr/>
        </p:nvSpPr>
        <p:spPr>
          <a:xfrm>
            <a:off x="457200" y="5212080"/>
            <a:ext cx="8229600" cy="457200"/>
          </a:xfrm>
          <a:prstGeom prst="rect">
            <a:avLst/>
          </a:prstGeom>
          <a:noFill/>
          <a:ln/>
        </p:spPr>
        <p:txBody>
          <a:bodyPr wrap="square" lIns="0" tIns="0" rIns="0" bIns="0" rtlCol="0" anchor="ctr"/>
          <a:lstStyle/>
          <a:p>
            <a:pPr indent="0" marL="0">
              <a:buNone/>
            </a:pPr>
            <a:r>
              <a:rPr lang="en-US" sz="1600" b="1" dirty="0">
                <a:solidFill>
                  <a:schemeClr val="accent2"/>
                </a:solidFill>
              </a:rPr>
              <a:t>By the chain rule, the prequential code of the Bayes posterior predictive is the Bayes free energy Fₙ.</a:t>
            </a:r>
            <a:endParaRPr lang="en-US" sz="16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Every predictor must code the observed label law</a:t>
            </a:r>
            <a:endParaRPr lang="en-US" sz="2800" dirty="0"/>
          </a:p>
        </p:txBody>
      </p:sp>
      <p:sp>
        <p:nvSpPr>
          <p:cNvPr id="3" name="formula"/>
          <p:cNvSpPr txBox="1"/>
          <p:nvPr/>
        </p:nvSpPr>
        <p:spPr>
          <a:xfrm>
            <a:off x="457200" y="1371600"/>
            <a:ext cx="11247120" cy="731520"/>
          </a:xfrm>
          <a:prstGeom prst="rect">
            <a:avLst/>
          </a:prstGeom>
          <a:noFill/>
          <a:ln/>
        </p:spPr>
        <p:txBody>
          <a:bodyPr wrap="square" lIns="0" tIns="0" rIns="0" bIns="0" rtlCol="0" anchor="ctr"/>
          <a:lstStyle/>
          <a:p>
            <a:pPr algn="ctr" indent="0" marL="0">
              <a:buNone/>
            </a:pPr>
            <a:r>
              <a:rPr lang="en-US" sz="2800" i="1" dirty="0">
                <a:solidFill>
                  <a:schemeClr val="tx1"/>
                </a:solidFill>
                <a:latin typeface="Cambria" pitchFamily="34" charset="0"/>
                <a:ea typeface="Cambria" pitchFamily="34" charset="-122"/>
                <a:cs typeface="Cambria" pitchFamily="34" charset="-120"/>
              </a:rPr>
              <a:t>p</a:t>
            </a:r>
            <a:r>
              <a:rPr lang="en-US" sz="2800" i="1" baseline="-40000" dirty="0">
                <a:solidFill>
                  <a:schemeClr val="tx1"/>
                </a:solidFill>
                <a:latin typeface="Cambria" pitchFamily="34" charset="0"/>
                <a:ea typeface="Cambria" pitchFamily="34" charset="-122"/>
                <a:cs typeface="Cambria" pitchFamily="34" charset="-120"/>
              </a:rPr>
              <a:t>obs</a:t>
            </a:r>
            <a:r>
              <a:rPr lang="en-US" sz="2800" i="1" dirty="0">
                <a:solidFill>
                  <a:schemeClr val="tx1"/>
                </a:solidFill>
                <a:latin typeface="Cambria" pitchFamily="34" charset="0"/>
                <a:ea typeface="Cambria" pitchFamily="34" charset="-122"/>
                <a:cs typeface="Cambria" pitchFamily="34" charset="-120"/>
              </a:rPr>
              <a:t>(y) = (1 − ε)·p(y) + ε/K,   ε = 0.05</a:t>
            </a:r>
            <a:endParaRPr lang="en-US" sz="2800" dirty="0"/>
          </a:p>
        </p:txBody>
      </p:sp>
      <p:sp>
        <p:nvSpPr>
          <p:cNvPr id="4" name="card What went wrong first"/>
          <p:cNvSpPr/>
          <p:nvPr/>
        </p:nvSpPr>
        <p:spPr>
          <a:xfrm>
            <a:off x="457200" y="2377440"/>
            <a:ext cx="5486400" cy="3291840"/>
          </a:xfrm>
          <a:prstGeom prst="roundRect">
            <a:avLst>
              <a:gd name="adj" fmla="val 2222"/>
            </a:avLst>
          </a:prstGeom>
          <a:solidFill>
            <a:schemeClr val="bg2"/>
          </a:solidFill>
          <a:ln w="12700">
            <a:solidFill>
              <a:schemeClr val="bg2"/>
            </a:solidFill>
            <a:prstDash val="solid"/>
          </a:ln>
        </p:spPr>
      </p:sp>
      <p:sp>
        <p:nvSpPr>
          <p:cNvPr id="5" name="Text 3"/>
          <p:cNvSpPr txBox="1"/>
          <p:nvPr/>
        </p:nvSpPr>
        <p:spPr>
          <a:xfrm>
            <a:off x="640080" y="2487168"/>
            <a:ext cx="5120640" cy="411480"/>
          </a:xfrm>
          <a:prstGeom prst="rect">
            <a:avLst/>
          </a:prstGeom>
          <a:noFill/>
          <a:ln/>
        </p:spPr>
        <p:txBody>
          <a:bodyPr wrap="square" lIns="0" tIns="0" rIns="0" bIns="0" rtlCol="0" anchor="t"/>
          <a:lstStyle/>
          <a:p>
            <a:pPr indent="0" marL="0">
              <a:buNone/>
            </a:pPr>
            <a:r>
              <a:rPr lang="en-US" sz="1700" b="1" dirty="0">
                <a:solidFill>
                  <a:schemeClr val="accent5"/>
                </a:solidFill>
                <a:latin typeface="Cambria" pitchFamily="34" charset="0"/>
                <a:ea typeface="Cambria" pitchFamily="34" charset="-122"/>
                <a:cs typeface="Cambria" pitchFamily="34" charset="-120"/>
              </a:rPr>
              <a:t>What went wrong first</a:t>
            </a:r>
            <a:endParaRPr lang="en-US" sz="1700" dirty="0"/>
          </a:p>
        </p:txBody>
      </p:sp>
      <p:sp>
        <p:nvSpPr>
          <p:cNvPr id="6" name="Text 4"/>
          <p:cNvSpPr txBox="1"/>
          <p:nvPr/>
        </p:nvSpPr>
        <p:spPr>
          <a:xfrm>
            <a:off x="640080" y="2926080"/>
            <a:ext cx="5120640" cy="2651760"/>
          </a:xfrm>
          <a:prstGeom prst="rect">
            <a:avLst/>
          </a:prstGeom>
          <a:noFill/>
          <a:ln/>
        </p:spPr>
        <p:txBody>
          <a:bodyPr wrap="square" lIns="0" tIns="0" rIns="0" bIns="0" rtlCol="0" anchor="t"/>
          <a:lstStyle/>
          <a:p>
            <a:pPr indent="0" marL="0">
              <a:spcAft>
                <a:spcPts val="800"/>
              </a:spcAft>
              <a:buNone/>
            </a:pPr>
            <a:r>
              <a:rPr lang="en-US" sz="1700" dirty="0">
                <a:solidFill>
                  <a:schemeClr val="tx1"/>
                </a:solidFill>
              </a:rPr>
              <a:t>The first implementation coded the clean law p(y). On InterpBench 18 the correct alignment coded clean targets at 0.13 bits each but paid about 39 bits per flipped label: 92 % of its code after position 128. Every verdict came out with the wrong sign.</a:t>
            </a:r>
            <a:endParaRPr lang="en-US" sz="1700" dirty="0"/>
          </a:p>
        </p:txBody>
      </p:sp>
      <p:sp>
        <p:nvSpPr>
          <p:cNvPr id="7" name="card Why randomized response"/>
          <p:cNvSpPr/>
          <p:nvPr/>
        </p:nvSpPr>
        <p:spPr>
          <a:xfrm>
            <a:off x="6245352" y="2377440"/>
            <a:ext cx="5486400" cy="3291840"/>
          </a:xfrm>
          <a:prstGeom prst="roundRect">
            <a:avLst>
              <a:gd name="adj" fmla="val 2222"/>
            </a:avLst>
          </a:prstGeom>
          <a:solidFill>
            <a:schemeClr val="bg2"/>
          </a:solidFill>
          <a:ln w="12700">
            <a:solidFill>
              <a:schemeClr val="bg2"/>
            </a:solidFill>
            <a:prstDash val="solid"/>
          </a:ln>
        </p:spPr>
      </p:sp>
      <p:sp>
        <p:nvSpPr>
          <p:cNvPr id="8" name="Text 6"/>
          <p:cNvSpPr txBox="1"/>
          <p:nvPr/>
        </p:nvSpPr>
        <p:spPr>
          <a:xfrm>
            <a:off x="6428232" y="2487168"/>
            <a:ext cx="5120640" cy="411480"/>
          </a:xfrm>
          <a:prstGeom prst="rect">
            <a:avLst/>
          </a:prstGeom>
          <a:noFill/>
          <a:ln/>
        </p:spPr>
        <p:txBody>
          <a:bodyPr wrap="square" lIns="0" tIns="0" rIns="0" bIns="0" rtlCol="0" anchor="t"/>
          <a:lstStyle/>
          <a:p>
            <a:pPr indent="0" marL="0">
              <a:buNone/>
            </a:pPr>
            <a:r>
              <a:rPr lang="en-US" sz="1700" b="1" dirty="0">
                <a:solidFill>
                  <a:schemeClr val="accent1"/>
                </a:solidFill>
                <a:latin typeface="Cambria" pitchFamily="34" charset="0"/>
                <a:ea typeface="Cambria" pitchFamily="34" charset="-122"/>
                <a:cs typeface="Cambria" pitchFamily="34" charset="-120"/>
              </a:rPr>
              <a:t>Why randomized response</a:t>
            </a:r>
            <a:endParaRPr lang="en-US" sz="1700" dirty="0"/>
          </a:p>
        </p:txBody>
      </p:sp>
      <p:sp>
        <p:nvSpPr>
          <p:cNvPr id="9" name="Text 7"/>
          <p:cNvSpPr txBox="1"/>
          <p:nvPr/>
        </p:nvSpPr>
        <p:spPr>
          <a:xfrm>
            <a:off x="6428232" y="2926080"/>
            <a:ext cx="5120640" cy="2651760"/>
          </a:xfrm>
          <a:prstGeom prst="rect">
            <a:avLst/>
          </a:prstGeom>
          <a:noFill/>
          <a:ln/>
        </p:spPr>
        <p:txBody>
          <a:bodyPr wrap="square" lIns="0" tIns="0" rIns="0" bIns="0" rtlCol="0" anchor="t"/>
          <a:lstStyle/>
          <a:p>
            <a:pPr indent="0" marL="0">
              <a:spcAft>
                <a:spcPts val="800"/>
              </a:spcAft>
              <a:buNone/>
            </a:pPr>
            <a:r>
              <a:rPr lang="en-US" sz="1700" dirty="0">
                <a:solidFill>
                  <a:schemeClr val="tx1"/>
                </a:solidFill>
              </a:rPr>
              <a:t>It gives deterministic counterfactual targets a conditional law with full support, representable at finite logits, so the model is realizable and Watanabe's expansion applies. Two configurations that both reproduce the law make identical predictions: no term linear in n between them.</a:t>
            </a:r>
            <a:endParaRPr lang="en-US" sz="1700" dirty="0"/>
          </a:p>
        </p:txBody>
      </p:sp>
      <p:sp>
        <p:nvSpPr>
          <p:cNvPr id="10" name="source lin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1000" dirty="0">
                <a:solidFill>
                  <a:schemeClr val="tx2"/>
                </a:solidFill>
              </a:rPr>
              <a:t>Source: paper draft, sections 2.5 and 7.1 (reports/stage1_writeup/stage1_results.tex).</a:t>
            </a:r>
            <a:endParaRPr lang="en-US" sz="10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Two coefficients: the Bayes λ and the learner's κ</a:t>
            </a:r>
            <a:endParaRPr lang="en-US" sz="2800" dirty="0"/>
          </a:p>
        </p:txBody>
      </p:sp>
      <p:sp>
        <p:nvSpPr>
          <p:cNvPr id="3" name="learner tag bayes"/>
          <p:cNvSpPr/>
          <p:nvPr/>
        </p:nvSpPr>
        <p:spPr>
          <a:xfrm>
            <a:off x="10820095" y="73152"/>
            <a:ext cx="96012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Bayes λ</a:t>
            </a:r>
            <a:endParaRPr lang="en-US" sz="1100" dirty="0"/>
          </a:p>
        </p:txBody>
      </p:sp>
      <p:sp>
        <p:nvSpPr>
          <p:cNvPr id="4" name="learner tag plug"/>
          <p:cNvSpPr/>
          <p:nvPr/>
        </p:nvSpPr>
        <p:spPr>
          <a:xfrm>
            <a:off x="9018727" y="73152"/>
            <a:ext cx="1691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plug-in κ (MAP)</a:t>
            </a:r>
            <a:endParaRPr lang="en-US" sz="1100" dirty="0"/>
          </a:p>
        </p:txBody>
      </p:sp>
      <p:sp>
        <p:nvSpPr>
          <p:cNvPr id="5" name="card Bayes predictive: λ"/>
          <p:cNvSpPr/>
          <p:nvPr/>
        </p:nvSpPr>
        <p:spPr>
          <a:xfrm>
            <a:off x="457200" y="1371600"/>
            <a:ext cx="5486400" cy="3291840"/>
          </a:xfrm>
          <a:prstGeom prst="roundRect">
            <a:avLst>
              <a:gd name="adj" fmla="val 2222"/>
            </a:avLst>
          </a:prstGeom>
          <a:solidFill>
            <a:schemeClr val="bg2"/>
          </a:solidFill>
          <a:ln w="12700">
            <a:solidFill>
              <a:schemeClr val="bg2"/>
            </a:solidFill>
            <a:prstDash val="solid"/>
          </a:ln>
        </p:spPr>
      </p:sp>
      <p:sp>
        <p:nvSpPr>
          <p:cNvPr id="6" name="Text 4"/>
          <p:cNvSpPr txBox="1"/>
          <p:nvPr/>
        </p:nvSpPr>
        <p:spPr>
          <a:xfrm>
            <a:off x="640080" y="1481328"/>
            <a:ext cx="5120640" cy="411480"/>
          </a:xfrm>
          <a:prstGeom prst="rect">
            <a:avLst/>
          </a:prstGeom>
          <a:noFill/>
          <a:ln/>
        </p:spPr>
        <p:txBody>
          <a:bodyPr wrap="square" lIns="0" tIns="0" rIns="0" bIns="0" rtlCol="0" anchor="t"/>
          <a:lstStyle/>
          <a:p>
            <a:pPr indent="0" marL="0">
              <a:buNone/>
            </a:pPr>
            <a:r>
              <a:rPr lang="en-US" sz="1700" b="1" dirty="0">
                <a:solidFill>
                  <a:schemeClr val="accent2"/>
                </a:solidFill>
                <a:latin typeface="Cambria" pitchFamily="34" charset="0"/>
                <a:ea typeface="Cambria" pitchFamily="34" charset="-122"/>
                <a:cs typeface="Cambria" pitchFamily="34" charset="-120"/>
              </a:rPr>
              <a:t>Bayes predictive: λ</a:t>
            </a:r>
            <a:endParaRPr lang="en-US" sz="1700" dirty="0"/>
          </a:p>
        </p:txBody>
      </p:sp>
      <p:sp>
        <p:nvSpPr>
          <p:cNvPr id="7" name="Text 5"/>
          <p:cNvSpPr txBox="1"/>
          <p:nvPr/>
        </p:nvSpPr>
        <p:spPr>
          <a:xfrm>
            <a:off x="640080" y="1920240"/>
            <a:ext cx="5120640" cy="2651760"/>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excess loss after m targets λ/m  ⇒  regret λ ln n</a:t>
            </a:r>
            <a:endParaRPr lang="en-US" sz="1800" dirty="0"/>
          </a:p>
          <a:p>
            <a:pPr indent="0" marL="0">
              <a:spcAft>
                <a:spcPts val="800"/>
              </a:spcAft>
              <a:buNone/>
            </a:pPr>
            <a:r>
              <a:rPr lang="en-US" sz="1800" dirty="0">
                <a:solidFill>
                  <a:schemeClr val="tx1"/>
                </a:solidFill>
              </a:rPr>
              <a:t>λ = real log canonical threshold of the family at the truth; regular: d/2</a:t>
            </a:r>
            <a:endParaRPr lang="en-US" sz="1800" dirty="0"/>
          </a:p>
          <a:p>
            <a:pPr indent="0" marL="0">
              <a:spcAft>
                <a:spcPts val="800"/>
              </a:spcAft>
              <a:buNone/>
            </a:pPr>
            <a:r>
              <a:rPr lang="en-US" sz="1800" dirty="0">
                <a:solidFill>
                  <a:schemeClr val="tx1"/>
                </a:solidFill>
              </a:rPr>
              <a:t>subspace family on a locus of width d: nominal λ = d_V(d − d_V)/2, half the Grassmannian dimension</a:t>
            </a:r>
            <a:endParaRPr lang="en-US" sz="1800" dirty="0"/>
          </a:p>
        </p:txBody>
      </p:sp>
      <p:sp>
        <p:nvSpPr>
          <p:cNvPr id="8" name="card Plug-in (MAP) refitted on each prefix: κ"/>
          <p:cNvSpPr/>
          <p:nvPr/>
        </p:nvSpPr>
        <p:spPr>
          <a:xfrm>
            <a:off x="6245352" y="1371600"/>
            <a:ext cx="5486400" cy="3291840"/>
          </a:xfrm>
          <a:prstGeom prst="roundRect">
            <a:avLst>
              <a:gd name="adj" fmla="val 2222"/>
            </a:avLst>
          </a:prstGeom>
          <a:solidFill>
            <a:schemeClr val="bg2"/>
          </a:solidFill>
          <a:ln w="12700">
            <a:solidFill>
              <a:schemeClr val="bg2"/>
            </a:solidFill>
            <a:prstDash val="solid"/>
          </a:ln>
        </p:spPr>
      </p:sp>
      <p:sp>
        <p:nvSpPr>
          <p:cNvPr id="9" name="Text 7"/>
          <p:cNvSpPr txBox="1"/>
          <p:nvPr/>
        </p:nvSpPr>
        <p:spPr>
          <a:xfrm>
            <a:off x="6428232" y="1481328"/>
            <a:ext cx="5120640" cy="411480"/>
          </a:xfrm>
          <a:prstGeom prst="rect">
            <a:avLst/>
          </a:prstGeom>
          <a:noFill/>
          <a:ln/>
        </p:spPr>
        <p:txBody>
          <a:bodyPr wrap="square" lIns="0" tIns="0" rIns="0" bIns="0" rtlCol="0" anchor="t"/>
          <a:lstStyle/>
          <a:p>
            <a:pPr indent="0" marL="0">
              <a:buNone/>
            </a:pPr>
            <a:r>
              <a:rPr lang="en-US" sz="1700" b="1" dirty="0">
                <a:solidFill>
                  <a:schemeClr val="accent1"/>
                </a:solidFill>
                <a:latin typeface="Cambria" pitchFamily="34" charset="0"/>
                <a:ea typeface="Cambria" pitchFamily="34" charset="-122"/>
                <a:cs typeface="Cambria" pitchFamily="34" charset="-120"/>
              </a:rPr>
              <a:t>Plug-in (MAP) refitted on each prefix: κ</a:t>
            </a:r>
            <a:endParaRPr lang="en-US" sz="1700" dirty="0"/>
          </a:p>
        </p:txBody>
      </p:sp>
      <p:sp>
        <p:nvSpPr>
          <p:cNvPr id="10" name="Text 8"/>
          <p:cNvSpPr txBox="1"/>
          <p:nvPr/>
        </p:nvSpPr>
        <p:spPr>
          <a:xfrm>
            <a:off x="6428232" y="1920240"/>
            <a:ext cx="5120640" cy="2651760"/>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excess loss κ/m  ⇒  regret κ ln n: a learner coefficient</a:t>
            </a:r>
            <a:endParaRPr lang="en-US" sz="1800" dirty="0"/>
          </a:p>
          <a:p>
            <a:pPr indent="0" marL="0">
              <a:spcAft>
                <a:spcPts val="800"/>
              </a:spcAft>
              <a:buNone/>
            </a:pPr>
            <a:r>
              <a:rPr lang="en-US" sz="1800" dirty="0">
                <a:solidFill>
                  <a:schemeClr val="tx1"/>
                </a:solidFill>
              </a:rPr>
              <a:t>regular, correctly specified: κ = ½ tr(F H⁻¹) (Takeuchi-type); F = H gives d/2</a:t>
            </a:r>
            <a:endParaRPr lang="en-US" sz="1800" dirty="0"/>
          </a:p>
          <a:p>
            <a:pPr indent="0" marL="0">
              <a:spcAft>
                <a:spcPts val="800"/>
              </a:spcAft>
              <a:buNone/>
            </a:pPr>
            <a:r>
              <a:rPr lang="en-US" sz="1800" dirty="0">
                <a:solidFill>
                  <a:schemeClr val="tx1"/>
                </a:solidFill>
              </a:rPr>
              <a:t>F: second moment of per-example gradients; H: Hessian of the mean loss, both at the MAP</a:t>
            </a:r>
            <a:endParaRPr lang="en-US" sz="1800" dirty="0"/>
          </a:p>
        </p:txBody>
      </p:sp>
      <p:sp>
        <p:nvSpPr>
          <p:cNvPr id="11" name="Text 9"/>
          <p:cNvSpPr txBox="1"/>
          <p:nvPr/>
        </p:nvSpPr>
        <p:spPr>
          <a:xfrm>
            <a:off x="457200" y="4937760"/>
            <a:ext cx="11247120" cy="822960"/>
          </a:xfrm>
          <a:prstGeom prst="rect">
            <a:avLst/>
          </a:prstGeom>
          <a:noFill/>
          <a:ln/>
        </p:spPr>
        <p:txBody>
          <a:bodyPr wrap="square" lIns="0" tIns="0" rIns="0" bIns="0" rtlCol="0" anchor="ctr"/>
          <a:lstStyle/>
          <a:p>
            <a:pPr indent="0" marL="0">
              <a:buNone/>
            </a:pPr>
            <a:r>
              <a:rPr lang="en-US" sz="1600" b="1" dirty="0">
                <a:solidFill>
                  <a:schemeClr val="tx1"/>
                </a:solidFill>
              </a:rPr>
              <a:t>Measured as: </a:t>
            </a:r>
            <a:r>
              <a:rPr lang="en-US" sz="1600" dirty="0">
                <a:solidFill>
                  <a:schemeClr val="tx1"/>
                </a:solidFill>
              </a:rPr>
              <a:t>regret = prequential loss − loss of the best-in-family fit on the same targets, least-squares slope against ln n, divided by the batching factor (r − 1)/ln r = 1.4427 for doubling blocks.</a:t>
            </a:r>
            <a:endParaRPr lang="en-US" sz="16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Exact check: the Bayes code reads Aoyagi–Watanabe λ, the plug-in reads MN/2</a:t>
            </a:r>
            <a:endParaRPr lang="en-US" sz="2800" dirty="0"/>
          </a:p>
        </p:txBody>
      </p:sp>
      <p:sp>
        <p:nvSpPr>
          <p:cNvPr id="3" name="learner tag bayes"/>
          <p:cNvSpPr/>
          <p:nvPr/>
        </p:nvSpPr>
        <p:spPr>
          <a:xfrm>
            <a:off x="10820095" y="73152"/>
            <a:ext cx="96012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Bayes λ</a:t>
            </a:r>
            <a:endParaRPr lang="en-US" sz="1100" dirty="0"/>
          </a:p>
        </p:txBody>
      </p:sp>
      <p:sp>
        <p:nvSpPr>
          <p:cNvPr id="4" name="learner tag plug"/>
          <p:cNvSpPr/>
          <p:nvPr/>
        </p:nvSpPr>
        <p:spPr>
          <a:xfrm>
            <a:off x="9018727" y="73152"/>
            <a:ext cx="1691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plug-in κ (MAP)</a:t>
            </a:r>
            <a:endParaRPr lang="en-US" sz="1100" dirty="0"/>
          </a:p>
        </p:txBody>
      </p:sp>
      <p:pic>
        <p:nvPicPr>
          <p:cNvPr id="5" name="figure rrr_exact_check.png" descr="rrr_exact_check.png">    </p:cNvPr>
          <p:cNvPicPr>
            <a:picLocks noChangeAspect="1"/>
          </p:cNvPicPr>
          <p:nvPr/>
        </p:nvPicPr>
        <p:blipFill>
          <a:blip r:embed="rId1"/>
          <a:stretch>
            <a:fillRect/>
          </a:stretch>
        </p:blipFill>
        <p:spPr>
          <a:xfrm>
            <a:off x="365760" y="1371600"/>
            <a:ext cx="8138160" cy="3671896"/>
          </a:xfrm>
          <a:prstGeom prst="rect">
            <a:avLst/>
          </a:prstGeom>
        </p:spPr>
      </p:pic>
      <p:sp>
        <p:nvSpPr>
          <p:cNvPr id="6" name="bullets"/>
          <p:cNvSpPr txBox="1"/>
          <p:nvPr/>
        </p:nvSpPr>
        <p:spPr>
          <a:xfrm>
            <a:off x="8732520" y="1371600"/>
            <a:ext cx="3063240" cy="466344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tx1"/>
                </a:solidFill>
              </a:rPr>
              <a:t>Reduced-rank regression y = UVx + e; 12 shapes (M, N, H, r), n = 65536, 16 seeds.</a:t>
            </a:r>
            <a:endParaRPr lang="en-US" sz="1500" dirty="0"/>
          </a:p>
          <a:p>
            <a:pPr marL="203200" indent="-203200">
              <a:spcAft>
                <a:spcPts val="900"/>
              </a:spcAft>
              <a:buSzPct val="100000"/>
              <a:buChar char="•"/>
            </a:pPr>
            <a:r>
              <a:rPr lang="en-US" sz="1500" b="1" dirty="0">
                <a:solidFill>
                  <a:schemeClr val="tx1"/>
                </a:solidFill>
              </a:rPr>
              <a:t>Bayes (HMC): </a:t>
            </a:r>
            <a:r>
              <a:rPr lang="en-US" sz="1500" dirty="0">
                <a:solidFill>
                  <a:schemeClr val="tx1"/>
                </a:solidFill>
              </a:rPr>
              <a:t>6.04 ± 0.27 for λ = 6; 1.53 ± 0.15 for 1.5; 1.99 ± 0.20 for 2.</a:t>
            </a:r>
            <a:endParaRPr lang="en-US" sz="1500" dirty="0"/>
          </a:p>
          <a:p>
            <a:pPr marL="203200" indent="-203200">
              <a:spcAft>
                <a:spcPts val="900"/>
              </a:spcAft>
              <a:buSzPct val="100000"/>
              <a:buChar char="•"/>
            </a:pPr>
            <a:r>
              <a:rPr lang="en-US" sz="1500" b="1" dirty="0">
                <a:solidFill>
                  <a:schemeClr val="tx1"/>
                </a:solidFill>
              </a:rPr>
              <a:t>Least squares: </a:t>
            </a:r>
            <a:r>
              <a:rPr lang="en-US" sz="1500" dirty="0">
                <a:solidFill>
                  <a:schemeClr val="tx1"/>
                </a:solidFill>
              </a:rPr>
              <a:t>8.29 ± 0.31 for MN/2 = 8, whatever the true rank.</a:t>
            </a:r>
            <a:endParaRPr lang="en-US" sz="1500" dirty="0"/>
          </a:p>
          <a:p>
            <a:pPr marL="203200" indent="-203200">
              <a:spcAft>
                <a:spcPts val="900"/>
              </a:spcAft>
              <a:buSzPct val="100000"/>
              <a:buChar char="•"/>
            </a:pPr>
            <a:r>
              <a:rPr lang="en-US" sz="1500" dirty="0">
                <a:solidFill>
                  <a:schemeClr val="tx1"/>
                </a:solidFill>
              </a:rPr>
              <a:t>Gains between two families on the same data: Δλ ln n (3.40 ± 0.21 vs 3.5; 4.05 ± 0.14 vs 4.0).</a:t>
            </a:r>
            <a:endParaRPr lang="en-US" sz="1500" dirty="0"/>
          </a:p>
          <a:p>
            <a:pPr marL="203200" indent="-203200">
              <a:spcAft>
                <a:spcPts val="900"/>
              </a:spcAft>
              <a:buSzPct val="100000"/>
              <a:buChar char="•"/>
            </a:pPr>
            <a:r>
              <a:rPr lang="en-US" sz="1500" dirty="0">
                <a:solidFill>
                  <a:schemeClr val="tx1"/>
                </a:solidFill>
              </a:rPr>
              <a:t>Multiplicity-2 shapes sit low: the −(m−1) ln ln n term.</a:t>
            </a:r>
            <a:endParaRPr lang="en-US" sz="1500" dirty="0"/>
          </a:p>
        </p:txBody>
      </p:sp>
      <p:sp>
        <p:nvSpPr>
          <p:cNvPr id="7" name="source lin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1000" dirty="0">
                <a:solidFill>
                  <a:schemeClr val="tx2"/>
                </a:solidFill>
              </a:rPr>
              <a:t>Source: rrr/codes_summary.txt, gain_summary.txt, gain_between_families.txt (slopes on n ≥ 256, batching-corrected).</a:t>
            </a:r>
            <a:endParaRPr lang="en-US" sz="10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Oracle: the plug-in pays for readable directions, the Bayes code for quartic ones too</a:t>
            </a:r>
            <a:endParaRPr lang="en-US" sz="2800" dirty="0"/>
          </a:p>
        </p:txBody>
      </p:sp>
      <p:sp>
        <p:nvSpPr>
          <p:cNvPr id="3" name="learner tag bayes"/>
          <p:cNvSpPr/>
          <p:nvPr/>
        </p:nvSpPr>
        <p:spPr>
          <a:xfrm>
            <a:off x="10820095" y="73152"/>
            <a:ext cx="96012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Bayes λ</a:t>
            </a:r>
            <a:endParaRPr lang="en-US" sz="1100" dirty="0"/>
          </a:p>
        </p:txBody>
      </p:sp>
      <p:sp>
        <p:nvSpPr>
          <p:cNvPr id="4" name="learner tag plug"/>
          <p:cNvSpPr/>
          <p:nvPr/>
        </p:nvSpPr>
        <p:spPr>
          <a:xfrm>
            <a:off x="9018727" y="73152"/>
            <a:ext cx="1691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plug-in κ (MAP)</a:t>
            </a:r>
            <a:endParaRPr lang="en-US" sz="1100" dirty="0"/>
          </a:p>
        </p:txBody>
      </p:sp>
      <p:pic>
        <p:nvPicPr>
          <p:cNvPr id="5" name="figure oracle_ksweep_slide.png" descr="oracle_ksweep_slide.png">    </p:cNvPr>
          <p:cNvPicPr>
            <a:picLocks noChangeAspect="1"/>
          </p:cNvPicPr>
          <p:nvPr/>
        </p:nvPicPr>
        <p:blipFill>
          <a:blip r:embed="rId1"/>
          <a:stretch>
            <a:fillRect/>
          </a:stretch>
        </p:blipFill>
        <p:spPr>
          <a:xfrm>
            <a:off x="365760" y="1280160"/>
            <a:ext cx="7102372" cy="4800600"/>
          </a:xfrm>
          <a:prstGeom prst="rect">
            <a:avLst/>
          </a:prstGeom>
        </p:spPr>
      </p:pic>
      <p:sp>
        <p:nvSpPr>
          <p:cNvPr id="6" name="bullets"/>
          <p:cNvSpPr txBox="1"/>
          <p:nvPr/>
        </p:nvSpPr>
        <p:spPr>
          <a:xfrm>
            <a:off x="7726680" y="1371600"/>
            <a:ext cx="4069080" cy="466344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tx1"/>
                </a:solidFill>
              </a:rPr>
              <a:t>Oracle network, d = 12, map of a 1-dim subspace; the data vary along only k of the 11 Grassmannian directions.</a:t>
            </a:r>
            <a:endParaRPr lang="en-US" sz="1500" dirty="0"/>
          </a:p>
          <a:p>
            <a:pPr marL="203200" indent="-203200">
              <a:spcAft>
                <a:spcPts val="900"/>
              </a:spcAft>
              <a:buSzPct val="100000"/>
              <a:buChar char="•"/>
            </a:pPr>
            <a:r>
              <a:rPr lang="en-US" sz="1500" b="1" dirty="0">
                <a:solidFill>
                  <a:schemeClr val="tx1"/>
                </a:solidFill>
              </a:rPr>
              <a:t>MAP κ ≈ ½ tr(F H⁺): </a:t>
            </a:r>
            <a:r>
              <a:rPr lang="en-US" sz="1500" dirty="0">
                <a:solidFill>
                  <a:schemeClr val="tx1"/>
                </a:solidFill>
              </a:rPr>
              <a:t>1.14 vs 1.10 at k = 1; 5.32 at k = 11 (n ≤ 16384).</a:t>
            </a:r>
            <a:endParaRPr lang="en-US" sz="1500" dirty="0"/>
          </a:p>
          <a:p>
            <a:pPr marL="203200" indent="-203200">
              <a:spcAft>
                <a:spcPts val="900"/>
              </a:spcAft>
              <a:buSzPct val="100000"/>
              <a:buChar char="•"/>
            </a:pPr>
            <a:r>
              <a:rPr lang="en-US" sz="1500" b="1" dirty="0">
                <a:solidFill>
                  <a:schemeClr val="tx1"/>
                </a:solidFill>
              </a:rPr>
              <a:t>Bayes λ </a:t>
            </a:r>
            <a:r>
              <a:rPr lang="en-US" sz="1500" dirty="0">
                <a:solidFill>
                  <a:schemeClr val="tx1"/>
                </a:solidFill>
              </a:rPr>
              <a:t>reaches k/2 + (11 − k)/4 at 16384 targets: 3.35 vs 3.0 at k = 1, 5.43 vs 5.5 at k = 11.</a:t>
            </a:r>
            <a:endParaRPr lang="en-US" sz="1500" dirty="0"/>
          </a:p>
          <a:p>
            <a:pPr marL="203200" indent="-203200">
              <a:spcAft>
                <a:spcPts val="900"/>
              </a:spcAft>
              <a:buSzPct val="100000"/>
              <a:buChar char="•"/>
            </a:pPr>
            <a:r>
              <a:rPr lang="en-US" sz="1500" dirty="0">
                <a:solidFill>
                  <a:schemeClr val="tx1"/>
                </a:solidFill>
              </a:rPr>
              <a:t>Unread directions are quartic: F = H = 0; the plug-in pays nothing, the Bayes code ¼ ln n each.</a:t>
            </a:r>
            <a:endParaRPr lang="en-US" sz="1500" dirty="0"/>
          </a:p>
        </p:txBody>
      </p:sp>
      <p:sp>
        <p:nvSpPr>
          <p:cNvPr id="7" name="source lin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1000" dirty="0">
                <a:solidFill>
                  <a:schemeClr val="tx2"/>
                </a:solidFill>
              </a:rPr>
              <a:t>Source: oracle/hmc_n16384/*.json, oracle/bayes_code_hmc.txt, oracle/hessian_vs_fisher.txt.</a:t>
            </a:r>
            <a:endParaRPr lang="en-US" sz="10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Sharp readouts: a finite-n crossover for Bayes, a persistent excess for the MAP</a:t>
            </a:r>
            <a:endParaRPr lang="en-US" sz="2800" dirty="0"/>
          </a:p>
        </p:txBody>
      </p:sp>
      <p:sp>
        <p:nvSpPr>
          <p:cNvPr id="3" name="learner tag bayes"/>
          <p:cNvSpPr/>
          <p:nvPr/>
        </p:nvSpPr>
        <p:spPr>
          <a:xfrm>
            <a:off x="10820095" y="73152"/>
            <a:ext cx="96012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Bayes λ</a:t>
            </a:r>
            <a:endParaRPr lang="en-US" sz="1100" dirty="0"/>
          </a:p>
        </p:txBody>
      </p:sp>
      <p:sp>
        <p:nvSpPr>
          <p:cNvPr id="4" name="learner tag plug"/>
          <p:cNvSpPr/>
          <p:nvPr/>
        </p:nvSpPr>
        <p:spPr>
          <a:xfrm>
            <a:off x="9018727" y="73152"/>
            <a:ext cx="1691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plug-in κ (MAP)</a:t>
            </a:r>
            <a:endParaRPr lang="en-US" sz="1100" dirty="0"/>
          </a:p>
        </p:txBody>
      </p:sp>
      <p:pic>
        <p:nvPicPr>
          <p:cNvPr id="5" name="figure oracle_sharpness_slide.png" descr="oracle_sharpness_slide.png">    </p:cNvPr>
          <p:cNvPicPr>
            <a:picLocks noChangeAspect="1"/>
          </p:cNvPicPr>
          <p:nvPr/>
        </p:nvPicPr>
        <p:blipFill>
          <a:blip r:embed="rId1"/>
          <a:stretch>
            <a:fillRect/>
          </a:stretch>
        </p:blipFill>
        <p:spPr>
          <a:xfrm>
            <a:off x="365760" y="1280160"/>
            <a:ext cx="7116135" cy="4800600"/>
          </a:xfrm>
          <a:prstGeom prst="rect">
            <a:avLst/>
          </a:prstGeom>
        </p:spPr>
      </p:pic>
      <p:sp>
        <p:nvSpPr>
          <p:cNvPr id="6" name="bullets"/>
          <p:cNvSpPr txBox="1"/>
          <p:nvPr/>
        </p:nvSpPr>
        <p:spPr>
          <a:xfrm>
            <a:off x="7726680" y="1371600"/>
            <a:ext cx="4069080" cy="466344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tx1"/>
                </a:solidFill>
              </a:rPr>
              <a:t>k = 5 readable directions, continuous V, channel 0.1; readout logits scaled ×1 … ×100.</a:t>
            </a:r>
            <a:endParaRPr lang="en-US" sz="1500" dirty="0"/>
          </a:p>
          <a:p>
            <a:pPr marL="203200" indent="-203200">
              <a:spcAft>
                <a:spcPts val="900"/>
              </a:spcAft>
              <a:buSzPct val="100000"/>
              <a:buChar char="•"/>
            </a:pPr>
            <a:r>
              <a:rPr lang="en-US" sz="1500" b="1" dirty="0">
                <a:solidFill>
                  <a:schemeClr val="tx1"/>
                </a:solidFill>
              </a:rPr>
              <a:t>n ≤ 2048: </a:t>
            </a:r>
            <a:r>
              <a:rPr lang="en-US" sz="1500" dirty="0">
                <a:solidFill>
                  <a:schemeClr val="tx1"/>
                </a:solidFill>
              </a:rPr>
              <a:t>Bayes λ rises from 2.40 (k/2) to 5.32 (k). The KL is linear, not quadratic, until n resolves the smooth core (1-D quadrature: crossover n ~ s^1.3).</a:t>
            </a:r>
            <a:endParaRPr lang="en-US" sz="1500" dirty="0"/>
          </a:p>
          <a:p>
            <a:pPr marL="203200" indent="-203200">
              <a:spcAft>
                <a:spcPts val="900"/>
              </a:spcAft>
              <a:buSzPct val="100000"/>
              <a:buChar char="•"/>
            </a:pPr>
            <a:r>
              <a:rPr lang="en-US" sz="1500" b="1" dirty="0">
                <a:solidFill>
                  <a:schemeClr val="tx1"/>
                </a:solidFill>
              </a:rPr>
              <a:t>n ≤ 16384: </a:t>
            </a:r>
            <a:r>
              <a:rPr lang="en-US" sz="1500" dirty="0">
                <a:solidFill>
                  <a:schemeClr val="tx1"/>
                </a:solidFill>
              </a:rPr>
              <a:t>Bayes falls back to 3.55 at ×100; 2.51 ± 0.08 at ×1.</a:t>
            </a:r>
            <a:endParaRPr lang="en-US" sz="1500" dirty="0"/>
          </a:p>
          <a:p>
            <a:pPr marL="203200" indent="-203200">
              <a:spcAft>
                <a:spcPts val="900"/>
              </a:spcAft>
              <a:buSzPct val="100000"/>
              <a:buChar char="•"/>
            </a:pPr>
            <a:r>
              <a:rPr lang="en-US" sz="1500" b="1" dirty="0">
                <a:solidFill>
                  <a:schemeClr val="tx1"/>
                </a:solidFill>
              </a:rPr>
              <a:t>MAP κ </a:t>
            </a:r>
            <a:r>
              <a:rPr lang="en-US" sz="1500" dirty="0">
                <a:solidFill>
                  <a:schemeClr val="tx1"/>
                </a:solidFill>
              </a:rPr>
              <a:t>stays at 10.3 ± 4.5 at ×100 (14.2 at n ≤ 2048): κ &gt; λ, a learner effect.</a:t>
            </a:r>
            <a:endParaRPr lang="en-US" sz="1500" dirty="0"/>
          </a:p>
        </p:txBody>
      </p:sp>
      <p:sp>
        <p:nvSpPr>
          <p:cNvPr id="7" name="source lin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1000" dirty="0">
                <a:solidFill>
                  <a:schemeClr val="tx2"/>
                </a:solidFill>
              </a:rPr>
              <a:t>Source: oracle/bayes_code_hmc.txt, oracle/sharp_n16384/*.json, talk_slt/sharp_readout_1d_quadrature.txt.</a:t>
            </a:r>
            <a:endParaRPr lang="en-US" sz="10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The Bayes code is the right instrument only while λ ln n is small against n Δℓ</a:t>
            </a:r>
            <a:endParaRPr lang="en-US" sz="2800" dirty="0"/>
          </a:p>
        </p:txBody>
      </p:sp>
      <p:sp>
        <p:nvSpPr>
          <p:cNvPr id="3" name="learner tag bayes"/>
          <p:cNvSpPr/>
          <p:nvPr/>
        </p:nvSpPr>
        <p:spPr>
          <a:xfrm>
            <a:off x="10820095" y="73152"/>
            <a:ext cx="96012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Bayes λ</a:t>
            </a:r>
            <a:endParaRPr lang="en-US" sz="1100" dirty="0"/>
          </a:p>
        </p:txBody>
      </p:sp>
      <p:sp>
        <p:nvSpPr>
          <p:cNvPr id="4" name="learner tag plug"/>
          <p:cNvSpPr/>
          <p:nvPr/>
        </p:nvSpPr>
        <p:spPr>
          <a:xfrm>
            <a:off x="9018727" y="73152"/>
            <a:ext cx="1691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plug-in κ (MAP)</a:t>
            </a:r>
            <a:endParaRPr lang="en-US" sz="1100" dirty="0"/>
          </a:p>
        </p:txBody>
      </p:sp>
      <p:pic>
        <p:nvPicPr>
          <p:cNvPr id="5" name="figure bayes_vs_plugin_ladder.png" descr="bayes_vs_plugin_ladder.png">    </p:cNvPr>
          <p:cNvPicPr>
            <a:picLocks noChangeAspect="1"/>
          </p:cNvPicPr>
          <p:nvPr/>
        </p:nvPicPr>
        <p:blipFill>
          <a:blip r:embed="rId1"/>
          <a:stretch>
            <a:fillRect/>
          </a:stretch>
        </p:blipFill>
        <p:spPr>
          <a:xfrm>
            <a:off x="365760" y="1280160"/>
            <a:ext cx="8012461" cy="4754880"/>
          </a:xfrm>
          <a:prstGeom prst="rect">
            <a:avLst/>
          </a:prstGeom>
        </p:spPr>
      </p:pic>
      <p:sp>
        <p:nvSpPr>
          <p:cNvPr id="6" name="bullets"/>
          <p:cNvSpPr txBox="1"/>
          <p:nvPr/>
        </p:nvSpPr>
        <p:spPr>
          <a:xfrm>
            <a:off x="8503920" y="1371600"/>
            <a:ext cx="3291840" cy="4663440"/>
          </a:xfrm>
          <a:prstGeom prst="rect">
            <a:avLst/>
          </a:prstGeom>
          <a:noFill/>
          <a:ln/>
        </p:spPr>
        <p:txBody>
          <a:bodyPr wrap="square" lIns="0" tIns="0" rIns="0" bIns="0" rtlCol="0" anchor="t"/>
          <a:lstStyle/>
          <a:p>
            <a:pPr marL="203200" indent="-203200">
              <a:spcAft>
                <a:spcPts val="900"/>
              </a:spcAft>
              <a:buSzPct val="100000"/>
              <a:buChar char="•"/>
            </a:pPr>
            <a:r>
              <a:rPr lang="en-US" sz="1500" b="1" dirty="0">
                <a:solidFill>
                  <a:schemeClr val="tx1"/>
                </a:solidFill>
              </a:rPr>
              <a:t>Hierarchical equality (λ = 56): </a:t>
            </a:r>
            <a:r>
              <a:rPr lang="en-US" sz="1500" dirty="0">
                <a:solidFill>
                  <a:schemeClr val="tx1"/>
                </a:solidFill>
              </a:rPr>
              <a:t>Bayes +733 vs plug-in +506 bits; Bayes charges the coupling family (−322) where the plug-in does not (+586).</a:t>
            </a:r>
            <a:endParaRPr lang="en-US" sz="1500" dirty="0"/>
          </a:p>
          <a:p>
            <a:pPr marL="203200" indent="-203200">
              <a:spcAft>
                <a:spcPts val="900"/>
              </a:spcAft>
              <a:buSzPct val="100000"/>
              <a:buChar char="•"/>
            </a:pPr>
            <a:r>
              <a:rPr lang="en-US" sz="1500" b="1" dirty="0">
                <a:solidFill>
                  <a:schemeClr val="tx1"/>
                </a:solidFill>
              </a:rPr>
              <a:t>InterpBench 18 (λ = 512): </a:t>
            </a:r>
            <a:r>
              <a:rPr lang="en-US" sz="1500" dirty="0">
                <a:solidFill>
                  <a:schemeClr val="tx1"/>
                </a:solidFill>
              </a:rPr>
              <a:t>the Bayes code of the valid alignment is longer than label-only at 1024 targets (1526–2370 vs 1342 bits); concentrated by 8192.</a:t>
            </a:r>
            <a:endParaRPr lang="en-US" sz="1500" dirty="0"/>
          </a:p>
          <a:p>
            <a:pPr marL="203200" indent="-203200">
              <a:spcAft>
                <a:spcPts val="900"/>
              </a:spcAft>
              <a:buSzPct val="100000"/>
              <a:buChar char="•"/>
            </a:pPr>
            <a:r>
              <a:rPr lang="en-US" sz="1500" b="1" dirty="0">
                <a:solidFill>
                  <a:schemeClr val="tx1"/>
                </a:solidFill>
              </a:rPr>
              <a:t>GPT-2 (λ = 6016): </a:t>
            </a:r>
            <a:r>
              <a:rPr lang="en-US" sz="1500" dirty="0">
                <a:solidFill>
                  <a:schemeClr val="tx1"/>
                </a:solidFill>
              </a:rPr>
              <a:t>not run. Any code is capped at 6.46 nats per target (≤ 2.2× label-only, drawn); the Laplace count exceeds the cap until n ≈ 10⁴.</a:t>
            </a:r>
            <a:endParaRPr lang="en-US" sz="1500" dirty="0"/>
          </a:p>
        </p:txBody>
      </p:sp>
      <p:sp>
        <p:nvSpPr>
          <p:cNvPr id="7" name="source lin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1000" dirty="0">
                <a:solidFill>
                  <a:schemeClr val="tx2"/>
                </a:solidFill>
              </a:rPr>
              <a:t>Source: stage1_toy/bayes_code_hmc.txt, stage1_interpbench/case18_bayes_code_hmc.txt, stage1_ioi/gpt2_summary_v2.md, curvature_gpt2.txt.</a:t>
            </a:r>
            <a:endParaRPr lang="en-US" sz="10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Fit or Occam: calibrated, only the regret separates them</a:t>
            </a:r>
            <a:endParaRPr lang="en-US" sz="2800" dirty="0"/>
          </a:p>
        </p:txBody>
      </p:sp>
      <p:sp>
        <p:nvSpPr>
          <p:cNvPr id="3" name="learner tag plug"/>
          <p:cNvSpPr/>
          <p:nvPr/>
        </p:nvSpPr>
        <p:spPr>
          <a:xfrm>
            <a:off x="10088575" y="73152"/>
            <a:ext cx="1691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plug-in κ (MAP)</a:t>
            </a:r>
            <a:endParaRPr lang="en-US" sz="1100" dirty="0"/>
          </a:p>
        </p:txBody>
      </p:sp>
      <p:pic>
        <p:nvPicPr>
          <p:cNvPr id="4" name="figure gain_decomposition.png" descr="gain_decomposition.png">    </p:cNvPr>
          <p:cNvPicPr>
            <a:picLocks noChangeAspect="1"/>
          </p:cNvPicPr>
          <p:nvPr/>
        </p:nvPicPr>
        <p:blipFill>
          <a:blip r:embed="rId1"/>
          <a:stretch>
            <a:fillRect/>
          </a:stretch>
        </p:blipFill>
        <p:spPr>
          <a:xfrm>
            <a:off x="365760" y="1188720"/>
            <a:ext cx="6857429" cy="4846320"/>
          </a:xfrm>
          <a:prstGeom prst="rect">
            <a:avLst/>
          </a:prstGeom>
        </p:spPr>
      </p:pic>
      <p:sp>
        <p:nvSpPr>
          <p:cNvPr id="5" name="bullets"/>
          <p:cNvSpPr txBox="1"/>
          <p:nvPr/>
        </p:nvSpPr>
        <p:spPr>
          <a:xfrm>
            <a:off x="7452360" y="1280160"/>
            <a:ext cx="4343400" cy="4754880"/>
          </a:xfrm>
          <a:prstGeom prst="rect">
            <a:avLst/>
          </a:prstGeom>
          <a:noFill/>
          <a:ln/>
        </p:spPr>
        <p:txBody>
          <a:bodyPr wrap="square" lIns="0" tIns="0" rIns="0" bIns="0" rtlCol="0" anchor="t"/>
          <a:lstStyle/>
          <a:p>
            <a:pPr marL="203200" indent="-203200">
              <a:spcAft>
                <a:spcPts val="900"/>
              </a:spcAft>
              <a:buSzPct val="100000"/>
              <a:buChar char="•"/>
            </a:pPr>
            <a:r>
              <a:rPr lang="en-US" sz="1400" b="1" dirty="0">
                <a:solidFill>
                  <a:schemeClr val="tx1"/>
                </a:solidFill>
              </a:rPr>
              <a:t>Readout as is: </a:t>
            </a:r>
            <a:r>
              <a:rPr lang="en-US" sz="1400" dirty="0">
                <a:solidFill>
                  <a:schemeClr val="tx1"/>
                </a:solidFill>
              </a:rPr>
              <a:t>the flows fit better (fit −2.0k bits): GPT-2 puts ≈ 96 % on the name, the subspace inherits it, the flows saturate the readout. The trained coupling overtakes near 20k targets.</a:t>
            </a:r>
            <a:endParaRPr lang="en-US" sz="1400" dirty="0"/>
          </a:p>
          <a:p>
            <a:pPr marL="203200" indent="-203200">
              <a:spcAft>
                <a:spcPts val="900"/>
              </a:spcAft>
              <a:buSzPct val="100000"/>
              <a:buChar char="•"/>
            </a:pPr>
            <a:r>
              <a:rPr lang="en-US" sz="1400" b="1" dirty="0">
                <a:solidFill>
                  <a:schemeClr val="tx1"/>
                </a:solidFill>
              </a:rPr>
              <a:t>One learned temperature per predictor: </a:t>
            </a:r>
            <a:r>
              <a:rPr lang="en-US" sz="1400" dirty="0">
                <a:solidFill>
                  <a:schemeClr val="tx1"/>
                </a:solidFill>
              </a:rPr>
              <a:t>fit term 0.0k vs manufactured, −0.1k vs coupling. The verdict is the learning cost alone: +9.3k and +1.1k bits at 32768, no crossover.</a:t>
            </a:r>
            <a:endParaRPr lang="en-US" sz="1400" dirty="0"/>
          </a:p>
          <a:p>
            <a:pPr marL="203200" indent="-203200">
              <a:spcAft>
                <a:spcPts val="900"/>
              </a:spcAft>
              <a:buSzPct val="100000"/>
              <a:buChar char="•"/>
            </a:pPr>
            <a:r>
              <a:rPr lang="en-US" sz="1400" b="1" dirty="0">
                <a:solidFill>
                  <a:schemeClr val="tx1"/>
                </a:solidFill>
              </a:rPr>
              <a:t>Label-only, twin: </a:t>
            </a:r>
            <a:r>
              <a:rPr lang="en-US" sz="1400" dirty="0">
                <a:solidFill>
                  <a:schemeClr val="tx1"/>
                </a:solidFill>
              </a:rPr>
              <a:t>all fit term in both (falsification); the manufactured alignment beats label-only by 109k bits at 32768.</a:t>
            </a:r>
            <a:endParaRPr lang="en-US" sz="1400" dirty="0"/>
          </a:p>
        </p:txBody>
      </p:sp>
      <p:sp>
        <p:nvSpPr>
          <p:cNvPr id="6" name="source lin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1000" dirty="0">
                <a:solidFill>
                  <a:schemeClr val="tx2"/>
                </a:solidFill>
              </a:rPr>
              <a:t>Source: stage1_ioi/gain_decomposition_gpt2_n32768{,_temp}.json (bitsev.experiments.gain_decomposition; MAP code, 32768 targets, 3 seeds; --temperature).</a:t>
            </a:r>
            <a:endParaRPr lang="en-US" sz="10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Two coupling maps, the same fit: only the regret differs</a:t>
            </a:r>
            <a:endParaRPr lang="en-US" sz="2800" dirty="0"/>
          </a:p>
        </p:txBody>
      </p:sp>
      <p:sp>
        <p:nvSpPr>
          <p:cNvPr id="3" name="learner tag plug"/>
          <p:cNvSpPr/>
          <p:nvPr/>
        </p:nvSpPr>
        <p:spPr>
          <a:xfrm>
            <a:off x="10088575" y="73152"/>
            <a:ext cx="1691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plug-in κ (MAP)</a:t>
            </a:r>
            <a:endParaRPr lang="en-US" sz="1100" dirty="0"/>
          </a:p>
        </p:txBody>
      </p:sp>
      <p:pic>
        <p:nvPicPr>
          <p:cNvPr id="4" name="figure gain_coupling_pair.png" descr="gain_coupling_pair.png">    </p:cNvPr>
          <p:cNvPicPr>
            <a:picLocks noChangeAspect="1"/>
          </p:cNvPicPr>
          <p:nvPr/>
        </p:nvPicPr>
        <p:blipFill>
          <a:blip r:embed="rId1"/>
          <a:stretch>
            <a:fillRect/>
          </a:stretch>
        </p:blipFill>
        <p:spPr>
          <a:xfrm>
            <a:off x="1280160" y="1188720"/>
            <a:ext cx="9437995" cy="3931920"/>
          </a:xfrm>
          <a:prstGeom prst="rect">
            <a:avLst/>
          </a:prstGeom>
        </p:spPr>
      </p:pic>
      <p:sp>
        <p:nvSpPr>
          <p:cNvPr id="5" name="bullets"/>
          <p:cNvSpPr txBox="1"/>
          <p:nvPr/>
        </p:nvSpPr>
        <p:spPr>
          <a:xfrm>
            <a:off x="548640" y="5212080"/>
            <a:ext cx="11155680" cy="868680"/>
          </a:xfrm>
          <a:prstGeom prst="rect">
            <a:avLst/>
          </a:prstGeom>
          <a:noFill/>
          <a:ln/>
        </p:spPr>
        <p:txBody>
          <a:bodyPr wrap="square" lIns="0" tIns="0" rIns="0" bIns="0" rtlCol="0" anchor="t"/>
          <a:lstStyle/>
          <a:p>
            <a:pPr marL="203200" indent="-203200">
              <a:spcAft>
                <a:spcPts val="900"/>
              </a:spcAft>
              <a:buSzPct val="100000"/>
              <a:buChar char="•"/>
            </a:pPr>
            <a:r>
              <a:rPr lang="en-US" sz="1400" b="1" dirty="0">
                <a:solidFill>
                  <a:schemeClr val="tx1"/>
                </a:solidFill>
              </a:rPr>
              <a:t>Same family, same size: </a:t>
            </a:r>
            <a:r>
              <a:rPr lang="en-US" sz="1400" dirty="0">
                <a:solidFill>
                  <a:schemeClr val="tx1"/>
                </a:solidFill>
              </a:rPr>
              <a:t>the coupling map on the trained network (layer 11) against the same map on its untrained twin (layer 10, the manufactured alignment); 1,869,440 parameters each, IIA ≥ 0.99 for both at 32768 targets.</a:t>
            </a:r>
            <a:endParaRPr lang="en-US" sz="1400" dirty="0"/>
          </a:p>
          <a:p>
            <a:pPr marL="203200" indent="-203200">
              <a:spcAft>
                <a:spcPts val="900"/>
              </a:spcAft>
              <a:buSzPct val="100000"/>
              <a:buChar char="•"/>
            </a:pPr>
            <a:r>
              <a:rPr lang="en-US" sz="1400" b="1" dirty="0">
                <a:solidFill>
                  <a:schemeClr val="tx1"/>
                </a:solidFill>
              </a:rPr>
              <a:t>Fit term +15 bits </a:t>
            </a:r>
            <a:r>
              <a:rPr lang="en-US" sz="1400" dirty="0">
                <a:solidFill>
                  <a:schemeClr val="tx1"/>
                </a:solidFill>
              </a:rPr>
              <a:t>(+95 with a temperature): both flows saturate the readout. The +8.0k-bit gain is all regret: κ 146 vs 826 per ln n (n ≥ 64).</a:t>
            </a:r>
            <a:endParaRPr lang="en-US" sz="1400" dirty="0"/>
          </a:p>
        </p:txBody>
      </p:sp>
      <p:sp>
        <p:nvSpPr>
          <p:cNvPr id="6" name="source lin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1000" dirty="0">
                <a:solidFill>
                  <a:schemeClr val="tx2"/>
                </a:solidFill>
              </a:rPr>
              <a:t>Source: difference of the two splits in stage1_ioi/gain_decomposition_gpt2_n32768{,_temp}.json (3 seeds); κ from h_a3_gpt2_large_n.txt.</a:t>
            </a:r>
            <a:endParaRPr lang="en-US" sz="10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To 131072 targets: a plateau with calibration, a decline without</a:t>
            </a:r>
            <a:endParaRPr lang="en-US" sz="2800" dirty="0"/>
          </a:p>
        </p:txBody>
      </p:sp>
      <p:sp>
        <p:nvSpPr>
          <p:cNvPr id="3" name="learner tag plug"/>
          <p:cNvSpPr/>
          <p:nvPr/>
        </p:nvSpPr>
        <p:spPr>
          <a:xfrm>
            <a:off x="10088575" y="73152"/>
            <a:ext cx="1691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plug-in κ (MAP)</a:t>
            </a:r>
            <a:endParaRPr lang="en-US" sz="1100" dirty="0"/>
          </a:p>
        </p:txBody>
      </p:sp>
      <p:pic>
        <p:nvPicPr>
          <p:cNvPr id="4" name="figure gain_large_n.png" descr="gain_large_n.png">    </p:cNvPr>
          <p:cNvPicPr>
            <a:picLocks noChangeAspect="1"/>
          </p:cNvPicPr>
          <p:nvPr/>
        </p:nvPicPr>
        <p:blipFill>
          <a:blip r:embed="rId1"/>
          <a:stretch>
            <a:fillRect/>
          </a:stretch>
        </p:blipFill>
        <p:spPr>
          <a:xfrm>
            <a:off x="868680" y="1188720"/>
            <a:ext cx="10424160" cy="3449084"/>
          </a:xfrm>
          <a:prstGeom prst="rect">
            <a:avLst/>
          </a:prstGeom>
        </p:spPr>
      </p:pic>
      <p:sp>
        <p:nvSpPr>
          <p:cNvPr id="5" name="bullets"/>
          <p:cNvSpPr txBox="1"/>
          <p:nvPr/>
        </p:nvSpPr>
        <p:spPr>
          <a:xfrm>
            <a:off x="548640" y="4709160"/>
            <a:ext cx="11155680" cy="1371600"/>
          </a:xfrm>
          <a:prstGeom prst="rect">
            <a:avLst/>
          </a:prstGeom>
          <a:noFill/>
          <a:ln/>
        </p:spPr>
        <p:txBody>
          <a:bodyPr wrap="square" lIns="0" tIns="0" rIns="0" bIns="0" rtlCol="0" anchor="t"/>
          <a:lstStyle/>
          <a:p>
            <a:pPr marL="203200" indent="-203200">
              <a:spcAft>
                <a:spcPts val="900"/>
              </a:spcAft>
              <a:buSzPct val="100000"/>
              <a:buChar char="•"/>
            </a:pPr>
            <a:r>
              <a:rPr lang="en-US" sz="1300" dirty="0">
                <a:solidFill>
                  <a:schemeClr val="tx1"/>
                </a:solidFill>
              </a:rPr>
              <a:t>3 seeds, Adam steps raised to 10 passes per block (the fixed 400-step budget gives the same curves).</a:t>
            </a:r>
            <a:endParaRPr lang="en-US" sz="1300" dirty="0"/>
          </a:p>
          <a:p>
            <a:pPr marL="203200" indent="-203200">
              <a:spcAft>
                <a:spcPts val="900"/>
              </a:spcAft>
              <a:buSzPct val="100000"/>
              <a:buChar char="•"/>
            </a:pPr>
            <a:r>
              <a:rPr lang="en-US" sz="1300" dirty="0">
                <a:solidFill>
                  <a:schemeClr val="tx1"/>
                </a:solidFill>
              </a:rPr>
              <a:t>Tempered: +9.1k ± 1.1k vs the forgery (peak ≈ 9.9k at 32768–65536), tie with the trained coupling. As is: +5.9k ± 2.1k and −6.9k (the 0.055-nat calibration deficit grows linearly).</a:t>
            </a:r>
            <a:endParaRPr lang="en-US" sz="1300" dirty="0"/>
          </a:p>
          <a:p>
            <a:pPr marL="203200" indent="-203200">
              <a:spcAft>
                <a:spcPts val="900"/>
              </a:spcAft>
              <a:buSzPct val="100000"/>
              <a:buChar char="•"/>
            </a:pPr>
            <a:r>
              <a:rPr lang="en-US" sz="1300" dirty="0">
                <a:solidFill>
                  <a:schemeClr val="tx1"/>
                </a:solidFill>
              </a:rPr>
              <a:t>Same-family pair keeps separating: +12.8k / +9.9k. Beyond ~32768 targets constant-rate Adam leaves ≈ 0.01 nats per target of excess loss, comparable to the κ ln n growth; the fit/regret split is not reliable there.</a:t>
            </a:r>
            <a:endParaRPr lang="en-US" sz="1300" dirty="0"/>
          </a:p>
        </p:txBody>
      </p:sp>
      <p:sp>
        <p:nvSpPr>
          <p:cNvPr id="6" name="source lin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1000" dirty="0">
                <a:solidFill>
                  <a:schemeClr val="tx2"/>
                </a:solidFill>
              </a:rPr>
              <a:t>Source: stage1_ioi/large_n_gains.txt; gain_decomposition_gpt2_n131072_ep10{,_temp}.json.</a:t>
            </a:r>
            <a:endParaRPr lang="en-US" sz="10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Four language models, one verdict, no retuning</a:t>
            </a:r>
            <a:endParaRPr lang="en-US" sz="2800" dirty="0"/>
          </a:p>
        </p:txBody>
      </p:sp>
      <p:sp>
        <p:nvSpPr>
          <p:cNvPr id="3" name="learner tag plug"/>
          <p:cNvSpPr/>
          <p:nvPr/>
        </p:nvSpPr>
        <p:spPr>
          <a:xfrm>
            <a:off x="10088575" y="73152"/>
            <a:ext cx="1691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plug-in κ (MAP)</a:t>
            </a:r>
            <a:endParaRPr lang="en-US" sz="1100" dirty="0"/>
          </a:p>
        </p:txBody>
      </p:sp>
      <p:pic>
        <p:nvPicPr>
          <p:cNvPr id="4" name="figure models_verdicts.png" descr="models_verdicts.png">    </p:cNvPr>
          <p:cNvPicPr>
            <a:picLocks noChangeAspect="1"/>
          </p:cNvPicPr>
          <p:nvPr/>
        </p:nvPicPr>
        <p:blipFill>
          <a:blip r:embed="rId1"/>
          <a:stretch>
            <a:fillRect/>
          </a:stretch>
        </p:blipFill>
        <p:spPr>
          <a:xfrm>
            <a:off x="365760" y="1325880"/>
            <a:ext cx="8229600" cy="3774875"/>
          </a:xfrm>
          <a:prstGeom prst="rect">
            <a:avLst/>
          </a:prstGeom>
        </p:spPr>
      </p:pic>
      <p:sp>
        <p:nvSpPr>
          <p:cNvPr id="5" name="bullets"/>
          <p:cNvSpPr txBox="1"/>
          <p:nvPr/>
        </p:nvSpPr>
        <p:spPr>
          <a:xfrm>
            <a:off x="8823960" y="1371600"/>
            <a:ext cx="2971800" cy="466344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tx1"/>
                </a:solidFill>
              </a:rPr>
              <a:t>Identical 1024 targets on every model; label-only 4324.5 bits.</a:t>
            </a:r>
            <a:endParaRPr lang="en-US" sz="1500" dirty="0"/>
          </a:p>
          <a:p>
            <a:pPr marL="203200" indent="-203200">
              <a:spcAft>
                <a:spcPts val="900"/>
              </a:spcAft>
              <a:buSzPct val="100000"/>
              <a:buChar char="•"/>
            </a:pPr>
            <a:r>
              <a:rPr lang="en-US" sz="1500" dirty="0">
                <a:solidFill>
                  <a:schemeClr val="tx1"/>
                </a:solidFill>
              </a:rPr>
              <a:t>Valid subspace at the last 2–4 layers: +3000 to +3400 bits; twin and wrong locus rejected at α = 0.01 within 20 targets (GPT-2, Qwen2.5, Llama).</a:t>
            </a:r>
            <a:endParaRPr lang="en-US" sz="1500" dirty="0"/>
          </a:p>
          <a:p>
            <a:pPr marL="203200" indent="-203200">
              <a:spcAft>
                <a:spcPts val="900"/>
              </a:spcAft>
              <a:buSzPct val="100000"/>
              <a:buChar char="•"/>
            </a:pPr>
            <a:r>
              <a:rPr lang="en-US" sz="1500" dirty="0">
                <a:solidFill>
                  <a:schemeClr val="tx1"/>
                </a:solidFill>
              </a:rPr>
              <a:t>Coupling on the trained net: 925–1665 bits behind the subspace at n = 1024 (on GPT-2 it overtakes near 20k targets, slide 7).</a:t>
            </a:r>
            <a:endParaRPr lang="en-US" sz="1500" dirty="0"/>
          </a:p>
          <a:p>
            <a:pPr marL="203200" indent="-203200">
              <a:spcAft>
                <a:spcPts val="900"/>
              </a:spcAft>
              <a:buSzPct val="100000"/>
              <a:buChar char="•"/>
            </a:pPr>
            <a:r>
              <a:rPr lang="en-US" sz="1500" dirty="0">
                <a:solidFill>
                  <a:schemeClr val="tx1"/>
                </a:solidFill>
              </a:rPr>
              <a:t>Manufactured, n = 1024: 1723–1986 bits longer than label-only (single-map code); 147 longer on Qwen3 (mixture, IIA 0.71).</a:t>
            </a:r>
            <a:endParaRPr lang="en-US" sz="1500" dirty="0"/>
          </a:p>
        </p:txBody>
      </p:sp>
      <p:sp>
        <p:nvSpPr>
          <p:cNvPr id="6" name="source lin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1000" dirty="0">
                <a:solidFill>
                  <a:schemeClr val="tx2"/>
                </a:solidFill>
              </a:rPr>
              <a:t>Source: stage1_ioi/tier2_models.txt, gpt2_summary_single_map_map0.md, *_summary.md (gains vs controls).</a:t>
            </a:r>
            <a:endParaRPr lang="en-US" sz="10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Jacobian lens and Jacobian consistency</a:t>
            </a:r>
            <a:endParaRPr lang="en-US" sz="2800" dirty="0"/>
          </a:p>
        </p:txBody>
      </p:sp>
      <p:pic>
        <p:nvPicPr>
          <p:cNvPr id="3" name="figure jacobian_consistency.png" descr="jacobian_consistency.png">    </p:cNvPr>
          <p:cNvPicPr>
            <a:picLocks noChangeAspect="1"/>
          </p:cNvPicPr>
          <p:nvPr/>
        </p:nvPicPr>
        <p:blipFill>
          <a:blip r:embed="rId1"/>
          <a:stretch>
            <a:fillRect/>
          </a:stretch>
        </p:blipFill>
        <p:spPr>
          <a:xfrm>
            <a:off x="457200" y="1371600"/>
            <a:ext cx="7414920" cy="3931920"/>
          </a:xfrm>
          <a:prstGeom prst="rect">
            <a:avLst/>
          </a:prstGeom>
        </p:spPr>
      </p:pic>
      <p:sp>
        <p:nvSpPr>
          <p:cNvPr id="4" name="bullets"/>
          <p:cNvSpPr txBox="1"/>
          <p:nvPr/>
        </p:nvSpPr>
        <p:spPr>
          <a:xfrm>
            <a:off x="8092440" y="1371600"/>
            <a:ext cx="3703320" cy="466344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tx1"/>
                </a:solidFill>
              </a:rPr>
              <a:t>J-lens frame: span of the names' averaged-Jacobian directions (W_U J_ℓ); no fitted parameters, κ = 0.</a:t>
            </a:r>
            <a:endParaRPr lang="en-US" sz="1500" dirty="0"/>
          </a:p>
          <a:p>
            <a:pPr marL="203200" indent="-203200">
              <a:spcAft>
                <a:spcPts val="900"/>
              </a:spcAft>
              <a:buSzPct val="100000"/>
              <a:buChar char="•"/>
            </a:pPr>
            <a:r>
              <a:rPr lang="en-US" sz="1500" dirty="0">
                <a:solidFill>
                  <a:schemeClr val="tx1"/>
                </a:solidFill>
              </a:rPr>
              <a:t>GPT-2 layer 11: IIA 0.98, +3525 bits (16 training names; +3529 with all 32); layer 12: +3626. Learned subspace: +3302 (mixture), +3385 (MAP).</a:t>
            </a:r>
            <a:endParaRPr lang="en-US" sz="1500" dirty="0"/>
          </a:p>
          <a:p>
            <a:pPr marL="203200" indent="-203200">
              <a:spcAft>
                <a:spcPts val="900"/>
              </a:spcAft>
              <a:buSzPct val="100000"/>
              <a:buChar char="•"/>
            </a:pPr>
            <a:r>
              <a:rPr lang="en-US" sz="1500" dirty="0">
                <a:solidFill>
                  <a:schemeClr val="tx1"/>
                </a:solidFill>
              </a:rPr>
              <a:t>Fails on every untrained twin (IIA 0.04); faithful at the last 2–4 layers of Qwen2.5-0.5B, Pythia-1.4b, Qwen3-1.7B.</a:t>
            </a:r>
            <a:endParaRPr lang="en-US" sz="1500" dirty="0"/>
          </a:p>
          <a:p>
            <a:pPr marL="203200" indent="-203200">
              <a:spcAft>
                <a:spcPts val="900"/>
              </a:spcAft>
              <a:buSzPct val="100000"/>
              <a:buChar char="•"/>
            </a:pPr>
            <a:r>
              <a:rPr lang="en-US" sz="1500" dirty="0">
                <a:solidFill>
                  <a:schemeClr val="tx1"/>
                </a:solidFill>
              </a:rPr>
              <a:t>JC = ‖δ − W_U J Δ‖/‖δ‖: manufactured 2.05–2.24 vs 0.15–0.38 for valid maps.</a:t>
            </a:r>
            <a:endParaRPr lang="en-US" sz="1500" dirty="0"/>
          </a:p>
        </p:txBody>
      </p:sp>
      <p:sp>
        <p:nvSpPr>
          <p:cNvPr id="5" name="source lin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1000" dirty="0">
                <a:solidFill>
                  <a:schemeClr val="tx2"/>
                </a:solidFill>
              </a:rPr>
              <a:t>Source: stage1_ioi/jlens_gpt2.txt, jlens_gpt2_jacobian_consistency.json, jlens_models.txt.</a:t>
            </a:r>
            <a:endParaRPr lang="en-US" sz="10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The learner, not a complexity charge, decides the absolute verdict</a:t>
            </a:r>
            <a:endParaRPr lang="en-US" sz="2800" dirty="0"/>
          </a:p>
        </p:txBody>
      </p:sp>
      <p:sp>
        <p:nvSpPr>
          <p:cNvPr id="3" name="learner tag plug"/>
          <p:cNvSpPr/>
          <p:nvPr/>
        </p:nvSpPr>
        <p:spPr>
          <a:xfrm>
            <a:off x="10088575" y="73152"/>
            <a:ext cx="1691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plug-in κ (MAP)</a:t>
            </a:r>
            <a:endParaRPr lang="en-US" sz="1100" dirty="0"/>
          </a:p>
        </p:txBody>
      </p:sp>
      <p:pic>
        <p:nvPicPr>
          <p:cNvPr id="4" name="figure learner_decides_verdict.png" descr="learner_decides_verdict.png">    </p:cNvPr>
          <p:cNvPicPr>
            <a:picLocks noChangeAspect="1"/>
          </p:cNvPicPr>
          <p:nvPr/>
        </p:nvPicPr>
        <p:blipFill>
          <a:blip r:embed="rId1"/>
          <a:stretch>
            <a:fillRect/>
          </a:stretch>
        </p:blipFill>
        <p:spPr>
          <a:xfrm>
            <a:off x="457200" y="1325880"/>
            <a:ext cx="11247120" cy="4225940"/>
          </a:xfrm>
          <a:prstGeom prst="rect">
            <a:avLst/>
          </a:prstGeom>
        </p:spPr>
      </p:pic>
      <p:sp>
        <p:nvSpPr>
          <p:cNvPr id="5" name="bullets"/>
          <p:cNvSpPr txBox="1"/>
          <p:nvPr/>
        </p:nvSpPr>
        <p:spPr>
          <a:xfrm>
            <a:off x="457200" y="5623560"/>
            <a:ext cx="11247120" cy="777240"/>
          </a:xfrm>
          <a:prstGeom prst="rect">
            <a:avLst/>
          </a:prstGeom>
          <a:noFill/>
          <a:ln/>
        </p:spPr>
        <p:txBody>
          <a:bodyPr wrap="square" lIns="0" tIns="0" rIns="0" bIns="0" rtlCol="0" anchor="t"/>
          <a:lstStyle/>
          <a:p>
            <a:pPr marL="203200" indent="-203200">
              <a:spcAft>
                <a:spcPts val="900"/>
              </a:spcAft>
              <a:buSzPct val="100000"/>
              <a:buChar char="•"/>
            </a:pPr>
            <a:r>
              <a:rPr lang="en-US" sz="1400" dirty="0">
                <a:solidFill>
                  <a:schemeClr val="tx1"/>
                </a:solidFill>
              </a:rPr>
              <a:t>Averaging four confidently wrong maps hedges for the adversary (2.6 bits per target in the last block); a single map pays 6–7 bits per target throughout.</a:t>
            </a:r>
            <a:endParaRPr lang="en-US" sz="1400" dirty="0"/>
          </a:p>
          <a:p>
            <a:pPr marL="203200" indent="-203200">
              <a:spcAft>
                <a:spcPts val="900"/>
              </a:spcAft>
              <a:buSzPct val="100000"/>
              <a:buChar char="•"/>
            </a:pPr>
            <a:r>
              <a:rPr lang="en-US" sz="1400" dirty="0">
                <a:solidFill>
                  <a:schemeClr val="tx1"/>
                </a:solidFill>
              </a:rPr>
              <a:t>The comparative verdict (valid beats manufactured) holds under every learner: ≈ 2600 bits (mixture), ≈ 5300 bits (MAP).</a:t>
            </a:r>
            <a:endParaRPr lang="en-US" sz="14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Competence onset: the code tracks the task and keeps improving after it is solved</a:t>
            </a:r>
            <a:endParaRPr lang="en-US" sz="2800" dirty="0"/>
          </a:p>
        </p:txBody>
      </p:sp>
      <p:sp>
        <p:nvSpPr>
          <p:cNvPr id="3" name="learner tag plug"/>
          <p:cNvSpPr/>
          <p:nvPr/>
        </p:nvSpPr>
        <p:spPr>
          <a:xfrm>
            <a:off x="10088575" y="73152"/>
            <a:ext cx="1691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plug-in κ (MAP)</a:t>
            </a:r>
            <a:endParaRPr lang="en-US" sz="1100" dirty="0"/>
          </a:p>
        </p:txBody>
      </p:sp>
      <p:pic>
        <p:nvPicPr>
          <p:cNvPr id="4" name="figure pythia_onset.png" descr="pythia_onset.png">    </p:cNvPr>
          <p:cNvPicPr>
            <a:picLocks noChangeAspect="1"/>
          </p:cNvPicPr>
          <p:nvPr/>
        </p:nvPicPr>
        <p:blipFill>
          <a:blip r:embed="rId1"/>
          <a:stretch>
            <a:fillRect/>
          </a:stretch>
        </p:blipFill>
        <p:spPr>
          <a:xfrm>
            <a:off x="365760" y="1234440"/>
            <a:ext cx="7850427" cy="4846320"/>
          </a:xfrm>
          <a:prstGeom prst="rect">
            <a:avLst/>
          </a:prstGeom>
        </p:spPr>
      </p:pic>
      <p:sp>
        <p:nvSpPr>
          <p:cNvPr id="5" name="bullets"/>
          <p:cNvSpPr txBox="1"/>
          <p:nvPr/>
        </p:nvSpPr>
        <p:spPr>
          <a:xfrm>
            <a:off x="8366760" y="1371600"/>
            <a:ext cx="3429000" cy="466344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tx1"/>
                </a:solidFill>
              </a:rPr>
              <a:t>Pythia-1.4b training checkpoints, MAP code, one seed.</a:t>
            </a:r>
            <a:endParaRPr lang="en-US" sz="1500" dirty="0"/>
          </a:p>
          <a:p>
            <a:pPr marL="203200" indent="-203200">
              <a:spcAft>
                <a:spcPts val="900"/>
              </a:spcAft>
              <a:buSzPct val="100000"/>
              <a:buChar char="•"/>
            </a:pPr>
            <a:r>
              <a:rPr lang="en-US" sz="1500" dirty="0">
                <a:solidFill>
                  <a:schemeClr val="tx1"/>
                </a:solidFill>
              </a:rPr>
              <a:t>Valid layer-20 code: 4748 bits at step 1k (worse than label-only) → 1451 at 3k → 853–910 from 8k on.</a:t>
            </a:r>
            <a:endParaRPr lang="en-US" sz="1500" dirty="0"/>
          </a:p>
          <a:p>
            <a:pPr marL="203200" indent="-203200">
              <a:spcAft>
                <a:spcPts val="900"/>
              </a:spcAft>
              <a:buSzPct val="100000"/>
              <a:buChar char="•"/>
            </a:pPr>
            <a:r>
              <a:rPr lang="en-US" sz="1500" dirty="0">
                <a:solidFill>
                  <a:schemeClr val="tx1"/>
                </a:solidFill>
              </a:rPr>
              <a:t>Steps 4k → 8k: accuracy already 0.95, code still drops 655 bits.</a:t>
            </a:r>
            <a:endParaRPr lang="en-US" sz="1500" dirty="0"/>
          </a:p>
          <a:p>
            <a:pPr marL="203200" indent="-203200">
              <a:spcAft>
                <a:spcPts val="900"/>
              </a:spcAft>
              <a:buSzPct val="100000"/>
              <a:buChar char="•"/>
            </a:pPr>
            <a:r>
              <a:rPr lang="en-US" sz="1500" dirty="0">
                <a:solidFill>
                  <a:schemeClr val="tx1"/>
                </a:solidFill>
              </a:rPr>
              <a:t>At step 1k the untrained twin's raw name copy (3751 bits) beats the trained net.</a:t>
            </a:r>
            <a:endParaRPr lang="en-US" sz="1500" dirty="0"/>
          </a:p>
          <a:p>
            <a:pPr marL="203200" indent="-203200">
              <a:spcAft>
                <a:spcPts val="900"/>
              </a:spcAft>
              <a:buSzPct val="100000"/>
              <a:buChar char="•"/>
            </a:pPr>
            <a:r>
              <a:rPr lang="en-US" sz="1500" dirty="0">
                <a:solidFill>
                  <a:schemeClr val="tx1"/>
                </a:solidFill>
              </a:rPr>
              <a:t>Manufactured (IIA 0.78): 643 bits longer than label-only at every step.</a:t>
            </a:r>
            <a:endParaRPr lang="en-US" sz="1500" dirty="0"/>
          </a:p>
        </p:txBody>
      </p:sp>
      <p:sp>
        <p:nvSpPr>
          <p:cNvPr id="6" name="source lin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1000" dirty="0">
                <a:solidFill>
                  <a:schemeClr val="tx2"/>
                </a:solidFill>
              </a:rPr>
              <a:t>Source: stage1_ioi/pythia14_checkpoint_series.txt (accuracy at step 3000 not measured).</a:t>
            </a:r>
            <a:endParaRPr lang="en-US" sz="10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The SGLD local learning coefficient as a cross-check</a:t>
            </a:r>
            <a:endParaRPr lang="en-US" sz="2800" dirty="0"/>
          </a:p>
        </p:txBody>
      </p:sp>
      <p:sp>
        <p:nvSpPr>
          <p:cNvPr id="3" name="learner tag bayes"/>
          <p:cNvSpPr/>
          <p:nvPr/>
        </p:nvSpPr>
        <p:spPr>
          <a:xfrm>
            <a:off x="10820095" y="73152"/>
            <a:ext cx="96012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Bayes λ</a:t>
            </a:r>
            <a:endParaRPr lang="en-US" sz="1100" dirty="0"/>
          </a:p>
        </p:txBody>
      </p:sp>
      <p:sp>
        <p:nvSpPr>
          <p:cNvPr id="4" name="learner tag plug"/>
          <p:cNvSpPr/>
          <p:nvPr/>
        </p:nvSpPr>
        <p:spPr>
          <a:xfrm>
            <a:off x="9018727" y="73152"/>
            <a:ext cx="1691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plug-in κ (MAP)</a:t>
            </a:r>
            <a:endParaRPr lang="en-US" sz="1100" dirty="0"/>
          </a:p>
        </p:txBody>
      </p:sp>
      <p:pic>
        <p:nvPicPr>
          <p:cNvPr id="5" name="figure oracle_effective_coefficient.png" descr="oracle_effective_coefficient.png">    </p:cNvPr>
          <p:cNvPicPr>
            <a:picLocks noChangeAspect="1"/>
          </p:cNvPicPr>
          <p:nvPr/>
        </p:nvPicPr>
        <p:blipFill>
          <a:blip r:embed="rId1"/>
          <a:stretch>
            <a:fillRect/>
          </a:stretch>
        </p:blipFill>
        <p:spPr>
          <a:xfrm>
            <a:off x="457200" y="1280160"/>
            <a:ext cx="5007429" cy="4572000"/>
          </a:xfrm>
          <a:prstGeom prst="rect">
            <a:avLst/>
          </a:prstGeom>
        </p:spPr>
      </p:pic>
      <p:sp>
        <p:nvSpPr>
          <p:cNvPr id="6" name="bullets"/>
          <p:cNvSpPr txBox="1"/>
          <p:nvPr/>
        </p:nvSpPr>
        <p:spPr>
          <a:xfrm>
            <a:off x="5669280" y="1371600"/>
            <a:ext cx="6126480" cy="466344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tx1"/>
                </a:solidFill>
              </a:rPr>
              <a:t>Estimator: tempered posterior at β = 1/ln n localised at the MAP; λ̂ = nβ (E[Lₙ] − Lₙ*).</a:t>
            </a:r>
            <a:endParaRPr lang="en-US" sz="1500" dirty="0"/>
          </a:p>
          <a:p>
            <a:pPr marL="203200" indent="-203200">
              <a:spcAft>
                <a:spcPts val="900"/>
              </a:spcAft>
              <a:buSzPct val="100000"/>
              <a:buChar char="•"/>
            </a:pPr>
            <a:r>
              <a:rPr lang="en-US" sz="1500" b="1" dirty="0">
                <a:solidFill>
                  <a:schemeClr val="tx1"/>
                </a:solidFill>
              </a:rPr>
              <a:t>Oracle (n = 2048): </a:t>
            </a:r>
            <a:r>
              <a:rPr lang="en-US" sz="1500" dirty="0">
                <a:solidFill>
                  <a:schemeClr val="tx1"/>
                </a:solidFill>
              </a:rPr>
              <a:t>0.85, 1.14, 1.78, 2.57, 4.20 for k = 1, 2, 4, 7, 11: close to k/2 and to the MAP slope, below the Bayes λ at small k.</a:t>
            </a:r>
            <a:endParaRPr lang="en-US" sz="1500" dirty="0"/>
          </a:p>
          <a:p>
            <a:pPr marL="203200" indent="-203200">
              <a:spcAft>
                <a:spcPts val="900"/>
              </a:spcAft>
              <a:buSzPct val="100000"/>
              <a:buChar char="•"/>
            </a:pPr>
            <a:r>
              <a:rPr lang="en-US" sz="1500" b="1" dirty="0">
                <a:solidFill>
                  <a:schemeClr val="tx1"/>
                </a:solidFill>
              </a:rPr>
              <a:t>RRR, n = 4096: </a:t>
            </a:r>
            <a:r>
              <a:rPr lang="en-US" sz="1500" dirty="0">
                <a:solidFill>
                  <a:schemeClr val="tx1"/>
                </a:solidFill>
              </a:rPr>
              <a:t>3.38 / 6.25 / 2.16 / 7.91 for λ = 3.5 / 6 / 2 / 7.5. At 65536 the same step diverges.</a:t>
            </a:r>
            <a:endParaRPr lang="en-US" sz="1500" dirty="0"/>
          </a:p>
          <a:p>
            <a:pPr marL="203200" indent="-203200">
              <a:spcAft>
                <a:spcPts val="900"/>
              </a:spcAft>
              <a:buSzPct val="100000"/>
              <a:buChar char="•"/>
            </a:pPr>
            <a:r>
              <a:rPr lang="en-US" sz="1500" b="1" dirty="0">
                <a:solidFill>
                  <a:schemeClr val="tx1"/>
                </a:solidFill>
              </a:rPr>
              <a:t>InterpBench: </a:t>
            </a:r>
            <a:r>
              <a:rPr lang="en-US" sz="1500" dirty="0">
                <a:solidFill>
                  <a:schemeClr val="tx1"/>
                </a:solidFill>
              </a:rPr>
              <a:t>0.96 ± 0.69 to 27 ± 14 depending on step and chain length; no chain plateaus.</a:t>
            </a:r>
            <a:endParaRPr lang="en-US" sz="1500" dirty="0"/>
          </a:p>
        </p:txBody>
      </p:sp>
      <p:sp>
        <p:nvSpPr>
          <p:cNvPr id="7" name="source lin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1000" dirty="0">
                <a:solidFill>
                  <a:schemeClr val="tx2"/>
                </a:solidFill>
              </a:rPr>
              <a:t>Source: oracle/llc_vs_regret_slope.txt, rrr/README.md, stage1_interpbench/case18_llc.txt, case18_llc_traces*.txt.</a:t>
            </a:r>
            <a:endParaRPr lang="en-US" sz="10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What this asks of singular learning theory</a:t>
            </a:r>
            <a:endParaRPr lang="en-US" sz="2800" dirty="0"/>
          </a:p>
        </p:txBody>
      </p:sp>
      <p:sp>
        <p:nvSpPr>
          <p:cNvPr id="3" name="card 1. Regret of plug-in learners in singular models"/>
          <p:cNvSpPr/>
          <p:nvPr/>
        </p:nvSpPr>
        <p:spPr>
          <a:xfrm>
            <a:off x="457200" y="1325880"/>
            <a:ext cx="5532120" cy="2331720"/>
          </a:xfrm>
          <a:prstGeom prst="roundRect">
            <a:avLst>
              <a:gd name="adj" fmla="val 3137"/>
            </a:avLst>
          </a:prstGeom>
          <a:solidFill>
            <a:schemeClr val="bg2"/>
          </a:solidFill>
          <a:ln w="12700">
            <a:solidFill>
              <a:schemeClr val="bg2"/>
            </a:solidFill>
            <a:prstDash val="solid"/>
          </a:ln>
        </p:spPr>
      </p:sp>
      <p:sp>
        <p:nvSpPr>
          <p:cNvPr id="4" name="Text 2"/>
          <p:cNvSpPr txBox="1"/>
          <p:nvPr/>
        </p:nvSpPr>
        <p:spPr>
          <a:xfrm>
            <a:off x="640080" y="1435608"/>
            <a:ext cx="5166360" cy="411480"/>
          </a:xfrm>
          <a:prstGeom prst="rect">
            <a:avLst/>
          </a:prstGeom>
          <a:noFill/>
          <a:ln/>
        </p:spPr>
        <p:txBody>
          <a:bodyPr wrap="square" lIns="0" tIns="0" rIns="0" bIns="0" rtlCol="0" anchor="t"/>
          <a:lstStyle/>
          <a:p>
            <a:pPr indent="0" marL="0">
              <a:buNone/>
            </a:pPr>
            <a:r>
              <a:rPr lang="en-US" sz="1700" b="1" dirty="0">
                <a:solidFill>
                  <a:schemeClr val="accent1"/>
                </a:solidFill>
                <a:latin typeface="Cambria" pitchFamily="34" charset="0"/>
                <a:ea typeface="Cambria" pitchFamily="34" charset="-122"/>
                <a:cs typeface="Cambria" pitchFamily="34" charset="-120"/>
              </a:rPr>
              <a:t>1. Regret of plug-in learners in singular models</a:t>
            </a:r>
            <a:endParaRPr lang="en-US" sz="1700" dirty="0"/>
          </a:p>
        </p:txBody>
      </p:sp>
      <p:sp>
        <p:nvSpPr>
          <p:cNvPr id="5" name="Text 3"/>
          <p:cNvSpPr txBox="1"/>
          <p:nvPr/>
        </p:nvSpPr>
        <p:spPr>
          <a:xfrm>
            <a:off x="640080" y="1874520"/>
            <a:ext cx="5166360" cy="1691640"/>
          </a:xfrm>
          <a:prstGeom prst="rect">
            <a:avLst/>
          </a:prstGeom>
          <a:noFill/>
          <a:ln/>
        </p:spPr>
        <p:txBody>
          <a:bodyPr wrap="square" lIns="0" tIns="0" rIns="0" bIns="0" rtlCol="0" anchor="t"/>
          <a:lstStyle/>
          <a:p>
            <a:pPr indent="0" marL="0">
              <a:spcAft>
                <a:spcPts val="800"/>
              </a:spcAft>
              <a:buNone/>
            </a:pPr>
            <a:r>
              <a:rPr lang="en-US" sz="1600" dirty="0">
                <a:solidFill>
                  <a:schemeClr val="tx1"/>
                </a:solidFill>
              </a:rPr>
              <a:t>κ has the order of ½ tr(F H⁻¹), a Takeuchi-type, Fisher-weighted count of directions, but not its trend (within 3×). Measured: κ &lt; λ (smooth, deterministic constraints), κ &gt; λ (sharp readouts), κ = MN/2 &gt; λ (least squares in RRR). Is there a singular-learning account of the MAP's regret?</a:t>
            </a:r>
            <a:endParaRPr lang="en-US" sz="1600" dirty="0"/>
          </a:p>
        </p:txBody>
      </p:sp>
      <p:sp>
        <p:nvSpPr>
          <p:cNvPr id="6" name="card 2. Regular, yet Fisher-free"/>
          <p:cNvSpPr/>
          <p:nvPr/>
        </p:nvSpPr>
        <p:spPr>
          <a:xfrm>
            <a:off x="6199632" y="1325880"/>
            <a:ext cx="5532120" cy="2331720"/>
          </a:xfrm>
          <a:prstGeom prst="roundRect">
            <a:avLst>
              <a:gd name="adj" fmla="val 3137"/>
            </a:avLst>
          </a:prstGeom>
          <a:solidFill>
            <a:schemeClr val="bg2"/>
          </a:solidFill>
          <a:ln w="12700">
            <a:solidFill>
              <a:schemeClr val="bg2"/>
            </a:solidFill>
            <a:prstDash val="solid"/>
          </a:ln>
        </p:spPr>
      </p:sp>
      <p:sp>
        <p:nvSpPr>
          <p:cNvPr id="7" name="Text 5"/>
          <p:cNvSpPr txBox="1"/>
          <p:nvPr/>
        </p:nvSpPr>
        <p:spPr>
          <a:xfrm>
            <a:off x="6382512" y="1435608"/>
            <a:ext cx="5166360" cy="411480"/>
          </a:xfrm>
          <a:prstGeom prst="rect">
            <a:avLst/>
          </a:prstGeom>
          <a:noFill/>
          <a:ln/>
        </p:spPr>
        <p:txBody>
          <a:bodyPr wrap="square" lIns="0" tIns="0" rIns="0" bIns="0" rtlCol="0" anchor="t"/>
          <a:lstStyle/>
          <a:p>
            <a:pPr indent="0" marL="0">
              <a:buNone/>
            </a:pPr>
            <a:r>
              <a:rPr lang="en-US" sz="1700" b="1" dirty="0">
                <a:solidFill>
                  <a:schemeClr val="accent1"/>
                </a:solidFill>
                <a:latin typeface="Cambria" pitchFamily="34" charset="0"/>
                <a:ea typeface="Cambria" pitchFamily="34" charset="-122"/>
                <a:cs typeface="Cambria" pitchFamily="34" charset="-120"/>
              </a:rPr>
              <a:t>2. Regular, yet Fisher-free</a:t>
            </a:r>
            <a:endParaRPr lang="en-US" sz="1700" dirty="0"/>
          </a:p>
        </p:txBody>
      </p:sp>
      <p:sp>
        <p:nvSpPr>
          <p:cNvPr id="8" name="Text 6"/>
          <p:cNvSpPr txBox="1"/>
          <p:nvPr/>
        </p:nvSpPr>
        <p:spPr>
          <a:xfrm>
            <a:off x="6382512" y="1874520"/>
            <a:ext cx="5166360" cy="1691640"/>
          </a:xfrm>
          <a:prstGeom prst="rect">
            <a:avLst/>
          </a:prstGeom>
          <a:noFill/>
          <a:ln/>
        </p:spPr>
        <p:txBody>
          <a:bodyPr wrap="square" lIns="0" tIns="0" rIns="0" bIns="0" rtlCol="0" anchor="t"/>
          <a:lstStyle/>
          <a:p>
            <a:pPr indent="0" marL="0">
              <a:spcAft>
                <a:spcPts val="800"/>
              </a:spcAft>
              <a:buNone/>
            </a:pPr>
            <a:r>
              <a:rPr lang="en-US" sz="1600" dirty="0">
                <a:solidFill>
                  <a:schemeClr val="tx1"/>
                </a:solidFill>
              </a:rPr>
              <a:t>Alignment families on trained networks are regular on the Grassmannian (H full rank) but F ≈ 0.01 H: the targets are deterministic functions of the state behind a noise channel. What is the right effective coefficient when F ≪ H, and how does λ(n) cross over?</a:t>
            </a:r>
            <a:endParaRPr lang="en-US" sz="1600" dirty="0"/>
          </a:p>
        </p:txBody>
      </p:sp>
      <p:sp>
        <p:nvSpPr>
          <p:cNvPr id="9" name="card 3. Estimators"/>
          <p:cNvSpPr/>
          <p:nvPr/>
        </p:nvSpPr>
        <p:spPr>
          <a:xfrm>
            <a:off x="457200" y="3840480"/>
            <a:ext cx="5532120" cy="2331720"/>
          </a:xfrm>
          <a:prstGeom prst="roundRect">
            <a:avLst>
              <a:gd name="adj" fmla="val 3137"/>
            </a:avLst>
          </a:prstGeom>
          <a:solidFill>
            <a:schemeClr val="bg2"/>
          </a:solidFill>
          <a:ln w="12700">
            <a:solidFill>
              <a:schemeClr val="bg2"/>
            </a:solidFill>
            <a:prstDash val="solid"/>
          </a:ln>
        </p:spPr>
      </p:sp>
      <p:sp>
        <p:nvSpPr>
          <p:cNvPr id="10" name="Text 8"/>
          <p:cNvSpPr txBox="1"/>
          <p:nvPr/>
        </p:nvSpPr>
        <p:spPr>
          <a:xfrm>
            <a:off x="640080" y="3950208"/>
            <a:ext cx="5166360" cy="411480"/>
          </a:xfrm>
          <a:prstGeom prst="rect">
            <a:avLst/>
          </a:prstGeom>
          <a:noFill/>
          <a:ln/>
        </p:spPr>
        <p:txBody>
          <a:bodyPr wrap="square" lIns="0" tIns="0" rIns="0" bIns="0" rtlCol="0" anchor="t"/>
          <a:lstStyle/>
          <a:p>
            <a:pPr indent="0" marL="0">
              <a:buNone/>
            </a:pPr>
            <a:r>
              <a:rPr lang="en-US" sz="1700" b="1" dirty="0">
                <a:solidFill>
                  <a:schemeClr val="accent2"/>
                </a:solidFill>
                <a:latin typeface="Cambria" pitchFamily="34" charset="0"/>
                <a:ea typeface="Cambria" pitchFamily="34" charset="-122"/>
                <a:cs typeface="Cambria" pitchFamily="34" charset="-120"/>
              </a:rPr>
              <a:t>3. Estimators</a:t>
            </a:r>
            <a:endParaRPr lang="en-US" sz="1700" dirty="0"/>
          </a:p>
        </p:txBody>
      </p:sp>
      <p:sp>
        <p:nvSpPr>
          <p:cNvPr id="11" name="Text 9"/>
          <p:cNvSpPr txBox="1"/>
          <p:nvPr/>
        </p:nvSpPr>
        <p:spPr>
          <a:xfrm>
            <a:off x="640080" y="4389120"/>
            <a:ext cx="5166360" cy="1691640"/>
          </a:xfrm>
          <a:prstGeom prst="rect">
            <a:avLst/>
          </a:prstGeom>
          <a:noFill/>
          <a:ln/>
        </p:spPr>
        <p:txBody>
          <a:bodyPr wrap="square" lIns="0" tIns="0" rIns="0" bIns="0" rtlCol="0" anchor="t"/>
          <a:lstStyle/>
          <a:p>
            <a:pPr indent="0" marL="0">
              <a:spcAft>
                <a:spcPts val="800"/>
              </a:spcAft>
              <a:buNone/>
            </a:pPr>
            <a:r>
              <a:rPr lang="en-US" sz="1600" dirty="0">
                <a:solidFill>
                  <a:schemeClr val="tx1"/>
                </a:solidFill>
              </a:rPr>
              <a:t>SGLD LLC tracked the plug-in coefficient on the oracle (0.85–4.20 for k/2 = 0.5–5.5) and read λ on RRR at n = 4096, but diverges at n = 65536 unless the step shrinks with n; on saturated transformer readouts its chains never plateau.</a:t>
            </a:r>
            <a:endParaRPr lang="en-US" sz="1600" dirty="0"/>
          </a:p>
        </p:txBody>
      </p:sp>
      <p:sp>
        <p:nvSpPr>
          <p:cNvPr id="12" name="card 4. The free energy of an explanation"/>
          <p:cNvSpPr/>
          <p:nvPr/>
        </p:nvSpPr>
        <p:spPr>
          <a:xfrm>
            <a:off x="6199632" y="3840480"/>
            <a:ext cx="5532120" cy="2331720"/>
          </a:xfrm>
          <a:prstGeom prst="roundRect">
            <a:avLst>
              <a:gd name="adj" fmla="val 3137"/>
            </a:avLst>
          </a:prstGeom>
          <a:solidFill>
            <a:schemeClr val="bg2"/>
          </a:solidFill>
          <a:ln w="12700">
            <a:solidFill>
              <a:schemeClr val="bg2"/>
            </a:solidFill>
            <a:prstDash val="solid"/>
          </a:ln>
        </p:spPr>
      </p:sp>
      <p:sp>
        <p:nvSpPr>
          <p:cNvPr id="13" name="Text 11"/>
          <p:cNvSpPr txBox="1"/>
          <p:nvPr/>
        </p:nvSpPr>
        <p:spPr>
          <a:xfrm>
            <a:off x="6382512" y="3950208"/>
            <a:ext cx="5166360" cy="411480"/>
          </a:xfrm>
          <a:prstGeom prst="rect">
            <a:avLst/>
          </a:prstGeom>
          <a:noFill/>
          <a:ln/>
        </p:spPr>
        <p:txBody>
          <a:bodyPr wrap="square" lIns="0" tIns="0" rIns="0" bIns="0" rtlCol="0" anchor="t"/>
          <a:lstStyle/>
          <a:p>
            <a:pPr indent="0" marL="0">
              <a:buNone/>
            </a:pPr>
            <a:r>
              <a:rPr lang="en-US" sz="1700" b="1" dirty="0">
                <a:solidFill>
                  <a:schemeClr val="accent2"/>
                </a:solidFill>
                <a:latin typeface="Cambria" pitchFamily="34" charset="0"/>
                <a:ea typeface="Cambria" pitchFamily="34" charset="-122"/>
                <a:cs typeface="Cambria" pitchFamily="34" charset="-120"/>
              </a:rPr>
              <a:t>4. The free energy of an explanation</a:t>
            </a:r>
            <a:endParaRPr lang="en-US" sz="1700" dirty="0"/>
          </a:p>
        </p:txBody>
      </p:sp>
      <p:sp>
        <p:nvSpPr>
          <p:cNvPr id="14" name="Text 12"/>
          <p:cNvSpPr txBox="1"/>
          <p:nvPr/>
        </p:nvSpPr>
        <p:spPr>
          <a:xfrm>
            <a:off x="6382512" y="4389120"/>
            <a:ext cx="5166360" cy="1691640"/>
          </a:xfrm>
          <a:prstGeom prst="rect">
            <a:avLst/>
          </a:prstGeom>
          <a:noFill/>
          <a:ln/>
        </p:spPr>
        <p:txBody>
          <a:bodyPr wrap="square" lIns="0" tIns="0" rIns="0" bIns="0" rtlCol="0" anchor="t"/>
          <a:lstStyle/>
          <a:p>
            <a:pPr indent="0" marL="0">
              <a:spcAft>
                <a:spcPts val="800"/>
              </a:spcAft>
              <a:buNone/>
            </a:pPr>
            <a:r>
              <a:rPr lang="en-US" sz="1600" dirty="0">
                <a:solidFill>
                  <a:schemeClr val="tx1"/>
                </a:solidFill>
              </a:rPr>
              <a:t>Explanations as programs: the Jacobian lens (λ = 0) is the shortest code of the IOI name. Which priors on alignment maps would make a Bayes code competitive, and is a scale-dependent λ(n) the right complexity for explanations?</a:t>
            </a:r>
            <a:endParaRPr lang="en-US" sz="1600" dirty="0"/>
          </a:p>
        </p:txBody>
      </p:sp>
      <p:sp>
        <p:nvSpPr>
          <p:cNvPr id="25" name="Slide Number Placeholder 0"/>
          <p:cNvSpPr>
            <a:spLocks noGrp="1"/>
          </p:cNvSpPr>
          <p:nvPr>
            <p:ph type="sldNum" sz="quarter" idx="4294967295"/>
          </p:nvPr>
        </p:nvSpPr>
        <p:spPr>
          <a:xfrm>
            <a:off x="4572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Bits of evidence">
  <a:themeElements>
    <a:clrScheme name="Bits of evidence">
      <a:dk1>
        <a:srgbClr val="1B1F2A"/>
      </a:dk1>
      <a:lt1>
        <a:srgbClr val="FFFFFF"/>
      </a:lt1>
      <a:dk2>
        <a:srgbClr val="52514E"/>
      </a:dk2>
      <a:lt2>
        <a:srgbClr val="EEF1F5"/>
      </a:lt2>
      <a:accent1>
        <a:srgbClr val="2A78D6"/>
      </a:accent1>
      <a:accent2>
        <a:srgbClr val="EB6834"/>
      </a:accent2>
      <a:accent3>
        <a:srgbClr val="1BAF7A"/>
      </a:accent3>
      <a:accent4>
        <a:srgbClr val="EDA100"/>
      </a:accent4>
      <a:accent5>
        <a:srgbClr val="E34948"/>
      </a:accent5>
      <a:accent6>
        <a:srgbClr val="D55181"/>
      </a:accent6>
      <a:hlink>
        <a:srgbClr val="2A78D6"/>
      </a:hlink>
      <a:folHlink>
        <a:srgbClr val="6250D6"/>
      </a:folHlink>
    </a:clrScheme>
    <a:fontScheme name="Bits of evid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Bits of evidence: the free energy of an explanation</dc:title>
  <dc:subject>PptxGenJS Presentation</dc:subject>
  <dc:creator>Sven Heydenreich</dc:creator>
  <cp:lastModifiedBy>Sven Heydenreich</cp:lastModifiedBy>
  <cp:revision>1</cp:revision>
  <dcterms:created xsi:type="dcterms:W3CDTF">2026-10-25T18:49:55Z</dcterms:created>
  <dcterms:modified xsi:type="dcterms:W3CDTF">2026-10-25T18:49:55Z</dcterms:modified>
</cp:coreProperties>
</file>